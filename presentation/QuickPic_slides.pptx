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embeddedFontLst>
    <p:embeddedFont>
      <p:font typeface="Inter" panose="02000503000000020004" pitchFamily="34" charset="0"/>
      <p:regular r:id="rId26"/>
      <p:bold r:id="rId27"/>
    </p:embeddedFont>
    <p:embeddedFont>
      <p:font typeface="JetBrains Mono" panose="02000009000000000000" pitchFamily="49" charset="0"/>
      <p:regular r:id="rId28"/>
      <p:bold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Tanish opens. “Good evening. We are Team 25. Our project is QuickPic: the teacher takes one photo of the class, and the system produces the attendance register.” Introduce the four members in one line each; say each will present the part they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Tanish. The setting: the teacher takes ONE photo of the whole room. Three difficulties. (1) Size: back-row faces are only ~30 pixels tall. (2) Open set: of 804 labelled faces in our 10 class photos, only 117 are enrolled students, so about 85% must be rejected as unknown. A system that always returns the nearest student would mark absent students present. (3) Real conditions: up to 102 faces per photo, turned heads, uneven light; our class photos are from 2024, enrollment photos from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Tanish. The pipeline: detect faces and 5 landmarks (eyes, nose, mouth corners), align each face to a fixed 112×112 template, turn it into a 512-number “signature” with ArcFace, compare signatures with enrolled students, and decide names. Grey boxes are pretrained and frozen. Green boxes are our contribution. Each green part can be switched off, which is how we prove it helps (the ablation later). Hand over to Shashank for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Shashank. Detectors resize the input to 640×640, so a 4032-pixel photo is shrunk about 6 times and small faces disappear. Our fix: overlapping 1280-pixel tiles at full resolution, plus one full-image pass for large faces. Boxes cut by an inner tile edge are dropped (the neighbouring tile sees that face whole), then duplicates are merged with non-maximum suppression at IoU 0.4. On a controlled test (a sample photo shrunk to each size), the smallest reliably detected face went from 96 px to 28 px for SCRFD-10GF.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Shashank. Recall = share of labelled faces the detector finds (a detection counts if it overlaps a labelled box at IoU ≥ 0.4). We labelled every face in 10 class photos ourselves with a small labelling tool: 793 faces. Tiling helps every detector: SCRFD 87.9 → 97.4%, YuNet 83.4 → 96.3%, the old Haar cascade 5 → 75%. Cost: about 12× more computation, roughly a second per photo on CPU, under a second on the laptop GPU. Honest caveat: the labelling tool proposed boxes using tiled SCRFD, which slightly favours it. Next: the answer key we scored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Shashank. No public dataset matches our task, so we built our own answer key. A small local web tool shows each class photo with every candidate face: tiled SCRFD at a deliberately low threshold of 0.3, so that as few faces as possible are missed. For each box we choose an enrolled student’s roll number, leave it as unknown, or mark it as not a face; faces the detector missed can be added by clicking. The boxes are frozen into a JSON label file per photo. Result: 804 labelled faces across 10 photos (69–102 each): 117 appearances of our 15 enrolled classmates, 676 other people who must be rejected, and 11 boxes that were not faces. Every accuracy number in this talk is scored against this key. It runs only on our laptop, and only aggregate numbers leave it. Honest caveat: since the tool proposes boxes with SCRFD, detection recall slightly favours SCRFD.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Shashank. After detection, every face is aligned. The detector gives five landmarks. We solve, by least squares, for the similarity transform (rotation + uniform scale + translation, 4 parameters) that best maps them onto the standard ArcFace template, and warp the face with OpenCV into an upright 112×112 crop. A similarity transform keeps the face’s shape; an affine or perspective warp would distort it. Alignment matters a lot: the same face aligned from two different detectors’ landmarks scored 0.75–0.98 similarity, different people at most 0.21. For registration photos we use classical image-quality measures instead of another network: sharpness is the variance of the Laplacian (edge energy; a blurred photo has few edges), brightness is the mean grey level of the aligned crop, size is the face box height, and head turn is the horizontal offset of the nose from the midpoint between the eyes, divided by the eye distance. The same yaw measure checks that the left and right photos are turned in opposite directions. Hand back to Tanish for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Tanish. Each face becomes a 512-number signature; we compare it with every enrolled signature by cosine similarity (1 = identical). Fix 1, degraded enrollment: a student registers 4 sharp photos; we add 10 synthetic copies of each (shrunk to 24–48 px and back, Gaussian blur, gamma/brightness, JPEG compression, horizontal flip), so a blurry back-row face has something similar to match. Fix 2, one-to-one assignment: deciding each face on its own can give two faces the same name. We solve it as an assignment problem (Hungarian method, scipy): maximise total score, each student at most once, plus an “unknown” option worth zero, so anything under the 0.35 threshold stays unknown. The table is an illustrative example: Face 2 would independently also be S1; jointly it goes to S2.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Tanish. We found this while testing a fresh class photo: two strangers were given an enrolled student’s name with scores just above the 0.35 threshold. Raising the threshold would lose correct names, because some students always score low. What separated the mistakes was the gap to the runner-up: in both mistakes another student scored almost the same. So the app flags a name when the gap is under 0.06; the teacher confirms or fixes it with one click. On our 10 labelled photos it flags both borderline mistakes and only 2 of 115 correct names; a plain score cut-off at 0.42 flagged 6 correct names. The table shows the four real cases from the two test photos. Hand over to Utkarsh for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Utkarsh. Before results, how we measured. Three public datasets, each answering one question: LFW, the standard benchmark of clear web photos (and the pairs we trained calibration on); TinyFace, natively tiny faces, to test rejecting strangers when faces are small; and the ICFD sample from IIT Madras, Indian students in real classrooms, to check that the pretrained model works on Indian faces. The decisive test is our own class: 10 photos, every one of 804 faces labelled with our labelling tool, 15 enrolled classmates. To avoid fooling ourselves: the threshold is chosen leave-one-photo-out, so no photo is ever scored with a threshold tuned on itself. We report attendance F1 (quality of the present list), how many enrolled appearances are named correctly, and how many strangers get a student’s name, which is the costliest error. Error bars come from bootstrapping the 10 photos. The public benchmarks ran on a Colab GPU; class photos never left the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Utkarsh. We tested four face models on public datasets, run on a Colab GPU. LFW is the classic benchmark of clear web photos: all deep models are about 99.5%; the classical LBP method is barely above chance. TinyFace has natively tiny faces (about 20×16 px): every model drops sharply. Interesting: ResNet-50 finds the right person most often (43%) but in the open-set test (must reject strangers) MobileFaceNet does better, because ResNet-50 gives strangers high scores on tiny faces. That motivated our calibration idea: a small logistic model that adjusts the score using face size and sharpness, trained on 46,000 LFW pairs. It helps tiny faces (12 px: 86 → 93% accepted at 1% false accepts) but our class faces are 50–130 px, where it does not help, so the deployed system leaves it off. The ICFD sample from IIT Madras (Indian students in real classrooms) gives 98.5% rank-1, which is why we did not retrain on Indian faces. Next: how the same models do on our own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Utkarsh. Same question as the benchmarks, but on our real task: we swap only the face model and keep everything else of the final pipeline. ResNet-50 names 115 of 117 student appearances with 6 strangers wrongly named (F1 0.966). The smaller MobileFaceNet is close (112, F1 0.962) and would be the choice on a phone. SFace misses 17 appearances (F1 0.914). The classical LBP method, texture histograms from the pre-deep-learning era, is unusable: at its best setting it names 121 strangers and only 6 students correctly. The ranking matches TinyFace rank-1, so the public benchmark predicted the classroom result. Hand over to Tanish for the effect of our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Tanish. This is our main result, an ablation: we add one fix at a time and measure. The test set is 10 real class photos of our section with all 804 faces labelled by us, and 15 enrolled classmates (117 appearances). The threshold is chosen “leave-one-photo-out”: for each photo it is tuned on the other nine, never on the photo itself. The pretrained model alone is already good at the attendance list (F1 0.954), but it gives 32 strangers an enrolled student’s name. Tiling halves that to 15, degraded enrollment improves F1 to 0.966, and one-to-one assignment brings strangers named down to 6: a 5× reduction. Final system: 115 of 117 appearances named correctly, under one teacher correction per photo. Hand over to Ritesh for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Shinde Ritesh. The web app has two roles. The teacher creates a course; students join with its code. To take attendance the teacher uploads one class photo. The server runs the whole pipeline (on the laptop GPU through Apple CoreML, under a second; 6 seconds on CPU) and opens a review screen: the photo with a box on every face, green for named students, amber with a question mark when two students looked alike, dashed for unknown people. The teacher can rename or reject any face; one face per student is enforced. On confirm, attendance is saved and the class photo is deleted. The course page (shown, with invented students) has per-lecture charts, students below 75%, and CSV export. Stack: Django with a typed JSON API (Django Ninja), SQLite, and a React + TypeScript frontend.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Shinde Ritesh. Students sign up with a roll number, join a course with its code, and register their face in four guided steps: facing the camera, turned left, turned right, in different light. Each photo is checked the moment it is taken: exactly one face, at least 120 px tall, sharp (Laplacian variance), evenly lit, and a head turn estimated from the five landmarks that matches the step. A rejected photo gets a specific instruction, e.g. “Turn your head a little more.” The student sees the aligned 112×112 face the system will use. Privacy: only the 512-number signatures (plus the degraded copies) are stored; the photos are discarded. Class photos are deleted when the teacher confirms. Students can delete their face data or whole account. Everything runs on one laptop,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Tanish. How it fits together. The recognition engine is one Python package (detection, tiling, alignment, embeddings, degraded gallery, assignment); the experiments and the website both import it, so the numbers in the report come from exactly the code that runs in the app. On top sits a Django JSON API (typed with Django Ninja, session login with CSRF protection) and a React + TypeScript frontend; the review screen with editable boxes and the one-face-per-student rule is the most complex part. Speed: running the networks on the laptop’s GPU through Apple CoreML takes a class photo from about 6 seconds to about half a second. Two problems had to be solved: the GPU compiles the network on first use (about 25 s), so we cache the compiled network; and it recompiled for every new number of faces, so faces are sent in fixed batches of 32. We checked that the GPU names exactly the same students as the CPU on all 10 photos. Quality: 58 automated tests (engine and API) and lint run on GitHub on every push, plus a check that fails if any image is committed. Then: “Let’s see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Shinde Ritesh drives; Tanish narrates if needed. Before the slot: make web running, browser on 127.0.0.1:8000, logged out, a class photo ready in a folder, laptop charged, webcam allowed. (1) Sign up a new student (or log in as one), open Face registration, take the four webcam photos and show the instant checks and the aligned face. (2) Log in as teacher (teacher / quickpic-demo), open the IPCV course, Take attendance, drop the class photo: point out the pipeline stages and that it takes about a second. (3) On the review screen: zoom in, show green / amber ? / dashed boxes, click an amber face and confirm or fix it, then Confirm attendance and show the course insights. Backup: if anything fails, use the 2024 class photo that is known to work, or start with QUICKPIC_DEVICE=cpu make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Tanish. Be upfront: the test set is small, so differences between configurations are within their confidence intervals; the counts of mistakes are the clearer signal. Faces under about 25 px remain hard for any model (TinyFace showed this). Lookalikes are why the app asks the teacher instead of guessing. Next steps: the most promising is learning from confirmed attendance, because classroom faces are the best possible match material; also calibration fitted on classroom faces, and seating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Tanish closes: “Each of us presented the part we built. Thank you; we are happy to take questions.” Likely questions and who answers: Why not train your own model? (Tanish: frozen ArcFace already gives 98.5% on Indian classroom faces; retraining needs far more data.) How small a face can you detect? (Shashank: about 28 px reliably with tiling.) Why did calibration not help? (Utkarsh: it targets faces under 20 px; ours are 50–130 px.) What happens to the photos? (Ritesh: only signatures are kept; class photos are deleted on confirm.) What is the Hungarian method? (Tanish: optimal one-to-one matching of faces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54"/>
            <a:ext cx="10566400" cy="885312"/>
          </a:xfrm>
          <a:prstGeom prst="rect">
            <a:avLst/>
          </a:prstGeom>
          <a:noFill/>
          <a:ln/>
        </p:spPr>
        <p:txBody>
          <a:bodyPr wrap="square" lIns="0" tIns="0" rIns="0" bIns="0" rtlCol="0" anchor="t"/>
          <a:lstStyle>
            <a:lvl1pPr algn="l" indent="0" marL="0">
              <a:lnSpc>
                <a:spcPct val="115000"/>
              </a:lnSpc>
              <a:buNone/>
              <a:defRPr lang="en-US" sz="3200" dirty="0">
                <a:solidFill>
                  <a:srgbClr val="18181B"/>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521067"/>
            <a:ext cx="10566400" cy="3524133"/>
          </a:xfrm>
          <a:prstGeom prst="rect">
            <a:avLst/>
          </a:prstGeom>
          <a:noFill/>
          <a:ln/>
        </p:spPr>
        <p:txBody>
          <a:bodyPr wrap="square" lIns="0" tIns="0" rIns="0" bIns="0" rtlCol="0" anchor="t"/>
          <a:lstStyle>
            <a:lvl1pPr algn="l" indent="0" marL="0">
              <a:lnSpc>
                <a:spcPct val="140000"/>
              </a:lnSpc>
              <a:buNone/>
              <a:defRPr lang="en-US" sz="1600" dirty="0">
                <a:solidFill>
                  <a:srgbClr val="18181B"/>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54"/>
            <a:ext cx="10566400" cy="885312"/>
          </a:xfrm>
          <a:prstGeom prst="rect">
            <a:avLst/>
          </a:prstGeom>
          <a:noFill/>
          <a:ln/>
        </p:spPr>
        <p:txBody>
          <a:bodyPr wrap="square" lIns="0" tIns="0" rIns="0" bIns="0" rtlCol="0" anchor="t"/>
          <a:lstStyle>
            <a:lvl1pPr algn="l" indent="0" marL="0">
              <a:lnSpc>
                <a:spcPct val="115000"/>
              </a:lnSpc>
              <a:buNone/>
              <a:defRPr lang="en-US" sz="3200" dirty="0">
                <a:solidFill>
                  <a:srgbClr val="18181B"/>
                </a:solidFill>
                <a:latin typeface="Inter" pitchFamily="34" charset="0"/>
                <a:ea typeface="Inter" pitchFamily="34" charset="-122"/>
                <a:cs typeface="Inte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2521067"/>
            <a:ext cx="10566400" cy="3524133"/>
          </a:xfrm>
          <a:prstGeom prst="rect">
            <a:avLst/>
          </a:prstGeom>
          <a:noFill/>
          <a:ln/>
        </p:spPr>
        <p:txBody>
          <a:bodyPr wrap="square" lIns="0" tIns="0" rIns="0" bIns="0" rtlCol="0" anchor="t"/>
          <a:lstStyle>
            <a:lvl1pPr algn="l" indent="0" marL="0">
              <a:lnSpc>
                <a:spcPct val="140000"/>
              </a:lnSpc>
              <a:buNone/>
              <a:defRPr lang="en-US" sz="1600" dirty="0">
                <a:solidFill>
                  <a:srgbClr val="18181B"/>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6"/>
        </a:solidFill>
      </p:bgPr>
    </p:bg>
    <p:spTree>
      <p:nvGrpSpPr>
        <p:cNvPr id="1" name=""/>
        <p:cNvGrpSpPr/>
        <p:nvPr/>
      </p:nvGrpSpPr>
      <p:grpSpPr>
        <a:xfrm>
          <a:off x="0" y="0"/>
          <a:ext cx="0" cy="0"/>
          <a:chOff x="0" y="0"/>
          <a:chExt cx="0" cy="0"/>
        </a:xfrm>
      </p:grpSpPr>
      <p:pic>
        <p:nvPicPr>
          <p:cNvPr id="2" name="Image 0" descr="Illustration of a lecture hall with face boxes: green boxes on enrolled students, dashed boxes on everyone else">    </p:cNvPr>
          <p:cNvPicPr>
            <a:picLocks noChangeAspect="1"/>
          </p:cNvPicPr>
          <p:nvPr/>
        </p:nvPicPr>
        <p:blipFill>
          <a:blip r:embed="rId1"/>
          <a:srcRect l="0" r="0" t="0" b="0"/>
          <a:stretch/>
        </p:blipFill>
        <p:spPr>
          <a:xfrm>
            <a:off x="6553200" y="1397000"/>
            <a:ext cx="4826000" cy="4064000"/>
          </a:xfrm>
          <a:prstGeom prst="rect">
            <a:avLst/>
          </a:prstGeom>
        </p:spPr>
      </p:pic>
      <p:sp>
        <p:nvSpPr>
          <p:cNvPr id="3" name="Text 0"/>
          <p:cNvSpPr/>
          <p:nvPr/>
        </p:nvSpPr>
        <p:spPr>
          <a:xfrm>
            <a:off x="812800" y="812800"/>
            <a:ext cx="5755640" cy="274307"/>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4ADE80"/>
                </a:solidFill>
                <a:latin typeface="JetBrains Mono" pitchFamily="49" charset="0"/>
                <a:ea typeface="JetBrains Mono" pitchFamily="49" charset="-122"/>
                <a:cs typeface="JetBrains Mono" pitchFamily="49" charset="-120"/>
              </a:rPr>
              <a:t>IPCV · SEMESTER VII · TEAM 25</a:t>
            </a:r>
            <a:endParaRPr lang="en-US" sz="1400" dirty="0"/>
          </a:p>
        </p:txBody>
      </p:sp>
      <p:sp>
        <p:nvSpPr>
          <p:cNvPr id="4" name="Text 1"/>
          <p:cNvSpPr/>
          <p:nvPr>
            <p:ph type="title"/>
          </p:nvPr>
        </p:nvSpPr>
        <p:spPr>
          <a:xfrm>
            <a:off x="812800" y="1978058"/>
            <a:ext cx="5755640" cy="1041400"/>
          </a:xfrm>
          <a:prstGeom prst="rect">
            <a:avLst/>
          </a:prstGeom>
          <a:noFill/>
          <a:ln/>
        </p:spPr>
        <p:txBody>
          <a:bodyPr wrap="square" lIns="0" tIns="0" rIns="0" bIns="0" rtlCol="0" anchor="t">
            <a:normAutofit/>
          </a:bodyPr>
          <a:lstStyle/>
          <a:p>
            <a:pPr algn="l" indent="0" marL="0">
              <a:lnSpc>
                <a:spcPts val="8000"/>
              </a:lnSpc>
              <a:buNone/>
            </a:pPr>
            <a:r>
              <a:rPr lang="en-US" sz="8000" b="1" i="0" spc="-200" kern="0" dirty="0">
                <a:solidFill>
                  <a:srgbClr val="F4F4F5"/>
                </a:solidFill>
                <a:latin typeface="Inter" pitchFamily="34" charset="0"/>
                <a:ea typeface="Inter" pitchFamily="34" charset="-122"/>
                <a:cs typeface="Inter" pitchFamily="34" charset="-120"/>
              </a:rPr>
              <a:t>QuickPic</a:t>
            </a:r>
            <a:endParaRPr lang="en-US" sz="8000" dirty="0"/>
          </a:p>
        </p:txBody>
      </p:sp>
      <p:sp>
        <p:nvSpPr>
          <p:cNvPr id="5" name="Text 2"/>
          <p:cNvSpPr/>
          <p:nvPr/>
        </p:nvSpPr>
        <p:spPr>
          <a:xfrm>
            <a:off x="812800" y="3197258"/>
            <a:ext cx="5755640" cy="421614"/>
          </a:xfrm>
          <a:prstGeom prst="rect">
            <a:avLst/>
          </a:prstGeom>
          <a:noFill/>
          <a:ln/>
        </p:spPr>
        <p:txBody>
          <a:bodyPr wrap="square" lIns="0" tIns="0" rIns="0" bIns="0" rtlCol="0" anchor="t">
            <a:normAutofit/>
          </a:bodyPr>
          <a:lstStyle/>
          <a:p>
            <a:pPr algn="l" indent="0" marL="0">
              <a:lnSpc>
                <a:spcPts val="3120"/>
              </a:lnSpc>
              <a:buNone/>
            </a:pPr>
            <a:r>
              <a:rPr lang="en-US" sz="2600" dirty="0">
                <a:solidFill>
                  <a:srgbClr val="F4F4F5"/>
                </a:solidFill>
                <a:latin typeface="Inter" pitchFamily="34" charset="0"/>
                <a:ea typeface="Inter" pitchFamily="34" charset="-122"/>
                <a:cs typeface="Inter" pitchFamily="34" charset="-120"/>
              </a:rPr>
              <a:t>One photo. The whole register.</a:t>
            </a:r>
            <a:endParaRPr lang="en-US" sz="2600" dirty="0"/>
          </a:p>
        </p:txBody>
      </p:sp>
      <p:sp>
        <p:nvSpPr>
          <p:cNvPr id="6" name="Text 3"/>
          <p:cNvSpPr/>
          <p:nvPr/>
        </p:nvSpPr>
        <p:spPr>
          <a:xfrm>
            <a:off x="812800" y="3796672"/>
            <a:ext cx="5755640" cy="614627"/>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A1A1AA"/>
                </a:solidFill>
                <a:latin typeface="Inter" pitchFamily="34" charset="0"/>
                <a:ea typeface="Inter" pitchFamily="34" charset="-122"/>
                <a:cs typeface="Inter" pitchFamily="34" charset="-120"/>
              </a:rPr>
              <a:t>Open-set face recognition for classroom attendance from a single group photograph</a:t>
            </a:r>
            <a:endParaRPr lang="en-US" sz="1600" dirty="0"/>
          </a:p>
        </p:txBody>
      </p:sp>
      <p:sp>
        <p:nvSpPr>
          <p:cNvPr id="7" name="Text 4"/>
          <p:cNvSpPr/>
          <p:nvPr/>
        </p:nvSpPr>
        <p:spPr>
          <a:xfrm>
            <a:off x="812800" y="5302250"/>
            <a:ext cx="5886450"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A1A1AA"/>
                </a:solidFill>
                <a:latin typeface="Inter" pitchFamily="34" charset="0"/>
                <a:ea typeface="Inter" pitchFamily="34" charset="-122"/>
                <a:cs typeface="Inter" pitchFamily="34" charset="-120"/>
              </a:rPr>
              <a:t>Tanish Mittal · Shashank Kanaujiya · Utkarsh Raj Singh · Shinde Ritesh Tirupati</a:t>
            </a:r>
            <a:endParaRPr lang="en-US" sz="1300" dirty="0"/>
          </a:p>
          <a:p>
            <a:pPr algn="l" indent="0" marL="0">
              <a:lnSpc>
                <a:spcPts val="1950"/>
              </a:lnSpc>
              <a:buNone/>
            </a:pPr>
            <a:r>
              <a:rPr lang="en-US" sz="1300" dirty="0">
                <a:solidFill>
                  <a:srgbClr val="A1A1AA"/>
                </a:solidFill>
                <a:latin typeface="Inter" pitchFamily="34" charset="0"/>
                <a:ea typeface="Inter" pitchFamily="34" charset="-122"/>
                <a:cs typeface="Inter" pitchFamily="34" charset="-120"/>
              </a:rPr>
              <a:t>Motilal Nehru National Institute of Technology Allahabad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TANISH · THE PROBLEM</a:t>
            </a:r>
            <a:endParaRPr lang="en-US" sz="1200" dirty="0"/>
          </a:p>
        </p:txBody>
      </p:sp>
      <p:sp>
        <p:nvSpPr>
          <p:cNvPr id="3" name="Text 1"/>
          <p:cNvSpPr/>
          <p:nvPr>
            <p:ph type="title"/>
          </p:nvPr>
        </p:nvSpPr>
        <p:spPr>
          <a:xfrm>
            <a:off x="812800" y="1381754"/>
            <a:ext cx="10883392" cy="960107"/>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181B"/>
                </a:solidFill>
                <a:latin typeface="Inter" pitchFamily="34" charset="0"/>
                <a:ea typeface="Inter" pitchFamily="34" charset="-122"/>
                <a:cs typeface="Inter" pitchFamily="34" charset="-120"/>
              </a:rPr>
              <a:t>Roll call takes minutes. One class photo should be enough, but three things make it hard.</a:t>
            </a:r>
            <a:endParaRPr lang="en-US" sz="3200" dirty="0"/>
          </a:p>
        </p:txBody>
      </p:sp>
      <p:sp>
        <p:nvSpPr>
          <p:cNvPr id="4" name="Shape 2"/>
          <p:cNvSpPr/>
          <p:nvPr/>
        </p:nvSpPr>
        <p:spPr>
          <a:xfrm>
            <a:off x="815975" y="2675235"/>
            <a:ext cx="3380317" cy="3163590"/>
          </a:xfrm>
          <a:prstGeom prst="roundRect">
            <a:avLst>
              <a:gd name="adj" fmla="val 4717"/>
            </a:avLst>
          </a:prstGeom>
          <a:solidFill>
            <a:srgbClr val="FFFFFF"/>
          </a:solidFill>
          <a:ln w="6350">
            <a:solidFill>
              <a:srgbClr val="E3E1DB"/>
            </a:solidFill>
            <a:prstDash val="solid"/>
          </a:ln>
        </p:spPr>
      </p:sp>
      <p:sp>
        <p:nvSpPr>
          <p:cNvPr id="5" name="Text 3"/>
          <p:cNvSpPr/>
          <p:nvPr/>
        </p:nvSpPr>
        <p:spPr>
          <a:xfrm>
            <a:off x="1123950" y="2983210"/>
            <a:ext cx="2847298"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18181B"/>
                </a:solidFill>
                <a:latin typeface="JetBrains Mono" pitchFamily="49" charset="0"/>
                <a:ea typeface="JetBrains Mono" pitchFamily="49" charset="-122"/>
                <a:cs typeface="JetBrains Mono" pitchFamily="49" charset="-120"/>
              </a:rPr>
              <a:t>30 px</a:t>
            </a:r>
            <a:endParaRPr lang="en-US" sz="4000" dirty="0"/>
          </a:p>
        </p:txBody>
      </p:sp>
      <p:sp>
        <p:nvSpPr>
          <p:cNvPr id="6" name="Text 4"/>
          <p:cNvSpPr/>
          <p:nvPr/>
        </p:nvSpPr>
        <p:spPr>
          <a:xfrm>
            <a:off x="1123950" y="3618210"/>
            <a:ext cx="284729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181B"/>
                </a:solidFill>
                <a:latin typeface="Inter" pitchFamily="34" charset="0"/>
                <a:ea typeface="Inter" pitchFamily="34" charset="-122"/>
                <a:cs typeface="Inter" pitchFamily="34" charset="-120"/>
              </a:rPr>
              <a:t>Tiny faces</a:t>
            </a:r>
            <a:endParaRPr lang="en-US" sz="1800" dirty="0"/>
          </a:p>
        </p:txBody>
      </p:sp>
      <p:sp>
        <p:nvSpPr>
          <p:cNvPr id="7" name="Text 5"/>
          <p:cNvSpPr/>
          <p:nvPr/>
        </p:nvSpPr>
        <p:spPr>
          <a:xfrm>
            <a:off x="1123950" y="4019517"/>
            <a:ext cx="2847298" cy="1056614"/>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Back-row faces are a few dozen pixels tall, far below what detectors and recognisers are tuned for.</a:t>
            </a:r>
            <a:endParaRPr lang="en-US" sz="1400" dirty="0"/>
          </a:p>
        </p:txBody>
      </p:sp>
      <p:sp>
        <p:nvSpPr>
          <p:cNvPr id="8" name="Shape 6"/>
          <p:cNvSpPr/>
          <p:nvPr/>
        </p:nvSpPr>
        <p:spPr>
          <a:xfrm>
            <a:off x="4405842" y="2675235"/>
            <a:ext cx="3380317" cy="3163590"/>
          </a:xfrm>
          <a:prstGeom prst="roundRect">
            <a:avLst>
              <a:gd name="adj" fmla="val 4717"/>
            </a:avLst>
          </a:prstGeom>
          <a:solidFill>
            <a:srgbClr val="FFFFFF"/>
          </a:solidFill>
          <a:ln w="6350">
            <a:solidFill>
              <a:srgbClr val="E3E1DB"/>
            </a:solidFill>
            <a:prstDash val="solid"/>
          </a:ln>
        </p:spPr>
      </p:sp>
      <p:sp>
        <p:nvSpPr>
          <p:cNvPr id="9" name="Text 7"/>
          <p:cNvSpPr/>
          <p:nvPr/>
        </p:nvSpPr>
        <p:spPr>
          <a:xfrm>
            <a:off x="4713817" y="2983210"/>
            <a:ext cx="2847298"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18181B"/>
                </a:solidFill>
                <a:latin typeface="JetBrains Mono" pitchFamily="49" charset="0"/>
                <a:ea typeface="JetBrains Mono" pitchFamily="49" charset="-122"/>
                <a:cs typeface="JetBrains Mono" pitchFamily="49" charset="-120"/>
              </a:rPr>
              <a:t>~85 %</a:t>
            </a:r>
            <a:endParaRPr lang="en-US" sz="4000" dirty="0"/>
          </a:p>
        </p:txBody>
      </p:sp>
      <p:sp>
        <p:nvSpPr>
          <p:cNvPr id="10" name="Text 8"/>
          <p:cNvSpPr/>
          <p:nvPr/>
        </p:nvSpPr>
        <p:spPr>
          <a:xfrm>
            <a:off x="4713817" y="3618210"/>
            <a:ext cx="284729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181B"/>
                </a:solidFill>
                <a:latin typeface="Inter" pitchFamily="34" charset="0"/>
                <a:ea typeface="Inter" pitchFamily="34" charset="-122"/>
                <a:cs typeface="Inter" pitchFamily="34" charset="-120"/>
              </a:rPr>
              <a:t>Mostly strangers</a:t>
            </a:r>
            <a:endParaRPr lang="en-US" sz="1800" dirty="0"/>
          </a:p>
        </p:txBody>
      </p:sp>
      <p:sp>
        <p:nvSpPr>
          <p:cNvPr id="11" name="Text 9"/>
          <p:cNvSpPr/>
          <p:nvPr/>
        </p:nvSpPr>
        <p:spPr>
          <a:xfrm>
            <a:off x="4713817" y="4019517"/>
            <a:ext cx="2847298" cy="1056614"/>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Most faces in our photos belong to people who are not enrolled. The system must say “unknown”, not guess.</a:t>
            </a:r>
            <a:endParaRPr lang="en-US" sz="1400" dirty="0"/>
          </a:p>
        </p:txBody>
      </p:sp>
      <p:sp>
        <p:nvSpPr>
          <p:cNvPr id="12" name="Shape 10"/>
          <p:cNvSpPr/>
          <p:nvPr/>
        </p:nvSpPr>
        <p:spPr>
          <a:xfrm>
            <a:off x="7995709" y="2675235"/>
            <a:ext cx="3380317" cy="3163590"/>
          </a:xfrm>
          <a:prstGeom prst="roundRect">
            <a:avLst>
              <a:gd name="adj" fmla="val 4717"/>
            </a:avLst>
          </a:prstGeom>
          <a:solidFill>
            <a:srgbClr val="FFFFFF"/>
          </a:solidFill>
          <a:ln w="6350">
            <a:solidFill>
              <a:srgbClr val="E3E1DB"/>
            </a:solidFill>
            <a:prstDash val="solid"/>
          </a:ln>
        </p:spPr>
      </p:sp>
      <p:sp>
        <p:nvSpPr>
          <p:cNvPr id="13" name="Text 11"/>
          <p:cNvSpPr/>
          <p:nvPr/>
        </p:nvSpPr>
        <p:spPr>
          <a:xfrm>
            <a:off x="8303684" y="2983210"/>
            <a:ext cx="2847298"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18181B"/>
                </a:solidFill>
                <a:latin typeface="JetBrains Mono" pitchFamily="49" charset="0"/>
                <a:ea typeface="JetBrains Mono" pitchFamily="49" charset="-122"/>
                <a:cs typeface="JetBrains Mono" pitchFamily="49" charset="-120"/>
              </a:rPr>
              <a:t>69–102</a:t>
            </a:r>
            <a:endParaRPr lang="en-US" sz="4000" dirty="0"/>
          </a:p>
        </p:txBody>
      </p:sp>
      <p:sp>
        <p:nvSpPr>
          <p:cNvPr id="14" name="Text 12"/>
          <p:cNvSpPr/>
          <p:nvPr/>
        </p:nvSpPr>
        <p:spPr>
          <a:xfrm>
            <a:off x="8303684" y="3618210"/>
            <a:ext cx="284729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181B"/>
                </a:solidFill>
                <a:latin typeface="Inter" pitchFamily="34" charset="0"/>
                <a:ea typeface="Inter" pitchFamily="34" charset="-122"/>
                <a:cs typeface="Inter" pitchFamily="34" charset="-120"/>
              </a:rPr>
              <a:t>Real conditions</a:t>
            </a:r>
            <a:endParaRPr lang="en-US" sz="1800" dirty="0"/>
          </a:p>
        </p:txBody>
      </p:sp>
      <p:sp>
        <p:nvSpPr>
          <p:cNvPr id="15" name="Text 13"/>
          <p:cNvSpPr/>
          <p:nvPr/>
        </p:nvSpPr>
        <p:spPr>
          <a:xfrm>
            <a:off x="8303684" y="4019517"/>
            <a:ext cx="2847298" cy="1056614"/>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Faces per photo, with turned heads, uneven light, and photos taken two years before enrollment.</a:t>
            </a:r>
            <a:endParaRPr lang="en-US" sz="1400" dirty="0"/>
          </a:p>
        </p:txBody>
      </p:sp>
      <p:sp>
        <p:nvSpPr>
          <p:cNvPr id="16" name="Text 14"/>
          <p:cNvSpPr/>
          <p:nvPr/>
        </p:nvSpPr>
        <p:spPr>
          <a:xfrm>
            <a:off x="812800" y="6238247"/>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17" name="Text 15"/>
          <p:cNvSpPr/>
          <p:nvPr/>
        </p:nvSpPr>
        <p:spPr>
          <a:xfrm>
            <a:off x="10058400" y="6238247"/>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TANISH · OUR APPROACH</a:t>
            </a:r>
            <a:endParaRPr lang="en-US" sz="1200" dirty="0"/>
          </a:p>
        </p:txBody>
      </p:sp>
      <p:sp>
        <p:nvSpPr>
          <p:cNvPr id="3" name="Text 1"/>
          <p:cNvSpPr/>
          <p:nvPr>
            <p:ph type="title"/>
          </p:nvPr>
        </p:nvSpPr>
        <p:spPr>
          <a:xfrm>
            <a:off x="812800" y="1381754"/>
            <a:ext cx="10883392" cy="960107"/>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181B"/>
                </a:solidFill>
                <a:latin typeface="Inter" pitchFamily="34" charset="0"/>
                <a:ea typeface="Inter" pitchFamily="34" charset="-122"/>
                <a:cs typeface="Inter" pitchFamily="34" charset="-120"/>
              </a:rPr>
              <a:t>Frozen pretrained networks, plus our own classroom-aware decision layer</a:t>
            </a:r>
            <a:endParaRPr lang="en-US" sz="3200" dirty="0"/>
          </a:p>
        </p:txBody>
      </p:sp>
      <p:sp>
        <p:nvSpPr>
          <p:cNvPr id="4" name="Shape 2"/>
          <p:cNvSpPr/>
          <p:nvPr/>
        </p:nvSpPr>
        <p:spPr>
          <a:xfrm>
            <a:off x="819150" y="2678410"/>
            <a:ext cx="1430867" cy="1082014"/>
          </a:xfrm>
          <a:prstGeom prst="roundRect">
            <a:avLst>
              <a:gd name="adj" fmla="val 11151"/>
            </a:avLst>
          </a:prstGeom>
          <a:solidFill>
            <a:srgbClr val="FFFFFF"/>
          </a:solidFill>
          <a:ln w="12700">
            <a:solidFill>
              <a:srgbClr val="D4D2CB"/>
            </a:solidFill>
            <a:prstDash val="solid"/>
          </a:ln>
        </p:spPr>
      </p:sp>
      <p:sp>
        <p:nvSpPr>
          <p:cNvPr id="5" name="Text 3"/>
          <p:cNvSpPr/>
          <p:nvPr/>
        </p:nvSpPr>
        <p:spPr>
          <a:xfrm>
            <a:off x="952500" y="2862560"/>
            <a:ext cx="121496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8181B"/>
                </a:solidFill>
                <a:latin typeface="Inter" pitchFamily="34" charset="0"/>
                <a:ea typeface="Inter" pitchFamily="34" charset="-122"/>
                <a:cs typeface="Inter" pitchFamily="34" charset="-120"/>
              </a:rPr>
              <a:t>Detect</a:t>
            </a:r>
            <a:endParaRPr lang="en-US" sz="1500" dirty="0"/>
          </a:p>
        </p:txBody>
      </p:sp>
      <p:sp>
        <p:nvSpPr>
          <p:cNvPr id="6" name="Text 4"/>
          <p:cNvSpPr/>
          <p:nvPr/>
        </p:nvSpPr>
        <p:spPr>
          <a:xfrm>
            <a:off x="952500" y="3180060"/>
            <a:ext cx="12149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D5D66"/>
                </a:solidFill>
                <a:latin typeface="Inter" pitchFamily="34" charset="0"/>
                <a:ea typeface="Inter" pitchFamily="34" charset="-122"/>
                <a:cs typeface="Inter" pitchFamily="34" charset="-120"/>
              </a:rPr>
              <a:t>SCRFD, 5 landmarks</a:t>
            </a:r>
            <a:endParaRPr lang="en-US" sz="1200" dirty="0"/>
          </a:p>
        </p:txBody>
      </p:sp>
      <p:pic>
        <p:nvPicPr>
          <p:cNvPr id="7" name="Image 0" descr="connector">    </p:cNvPr>
          <p:cNvPicPr>
            <a:picLocks noChangeAspect="1"/>
          </p:cNvPicPr>
          <p:nvPr/>
        </p:nvPicPr>
        <p:blipFill>
          <a:blip r:embed="rId1"/>
          <a:srcRect l="0" r="0" t="0" b="0"/>
          <a:stretch/>
        </p:blipFill>
        <p:spPr>
          <a:xfrm>
            <a:off x="2332567" y="3181317"/>
            <a:ext cx="228600" cy="76200"/>
          </a:xfrm>
          <a:prstGeom prst="rect">
            <a:avLst/>
          </a:prstGeom>
        </p:spPr>
      </p:pic>
      <p:sp>
        <p:nvSpPr>
          <p:cNvPr id="8" name="Shape 5"/>
          <p:cNvSpPr/>
          <p:nvPr/>
        </p:nvSpPr>
        <p:spPr>
          <a:xfrm>
            <a:off x="2643717" y="2777465"/>
            <a:ext cx="1430867" cy="883907"/>
          </a:xfrm>
          <a:prstGeom prst="roundRect">
            <a:avLst>
              <a:gd name="adj" fmla="val 13650"/>
            </a:avLst>
          </a:prstGeom>
          <a:solidFill>
            <a:srgbClr val="DCFCE7"/>
          </a:solidFill>
          <a:ln w="12700">
            <a:solidFill>
              <a:srgbClr val="15803D"/>
            </a:solidFill>
            <a:prstDash val="solid"/>
          </a:ln>
        </p:spPr>
      </p:sp>
      <p:sp>
        <p:nvSpPr>
          <p:cNvPr id="9" name="Text 6"/>
          <p:cNvSpPr/>
          <p:nvPr/>
        </p:nvSpPr>
        <p:spPr>
          <a:xfrm>
            <a:off x="2777067" y="2961615"/>
            <a:ext cx="121496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532D"/>
                </a:solidFill>
                <a:latin typeface="Inter" pitchFamily="34" charset="0"/>
                <a:ea typeface="Inter" pitchFamily="34" charset="-122"/>
                <a:cs typeface="Inter" pitchFamily="34" charset="-120"/>
              </a:rPr>
              <a:t>Tiling</a:t>
            </a:r>
            <a:endParaRPr lang="en-US" sz="1500" dirty="0"/>
          </a:p>
        </p:txBody>
      </p:sp>
      <p:sp>
        <p:nvSpPr>
          <p:cNvPr id="10" name="Text 7"/>
          <p:cNvSpPr/>
          <p:nvPr/>
        </p:nvSpPr>
        <p:spPr>
          <a:xfrm>
            <a:off x="2777067" y="3279115"/>
            <a:ext cx="12149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532D"/>
                </a:solidFill>
                <a:latin typeface="Inter" pitchFamily="34" charset="0"/>
                <a:ea typeface="Inter" pitchFamily="34" charset="-122"/>
                <a:cs typeface="Inter" pitchFamily="34" charset="-120"/>
              </a:rPr>
              <a:t>ours</a:t>
            </a:r>
            <a:endParaRPr lang="en-US" sz="1200" dirty="0"/>
          </a:p>
        </p:txBody>
      </p:sp>
      <p:pic>
        <p:nvPicPr>
          <p:cNvPr id="11" name="Image 1" descr="connector">    </p:cNvPr>
          <p:cNvPicPr>
            <a:picLocks noChangeAspect="1"/>
          </p:cNvPicPr>
          <p:nvPr/>
        </p:nvPicPr>
        <p:blipFill>
          <a:blip r:embed="rId2"/>
          <a:srcRect l="0" r="0" t="0" b="0"/>
          <a:stretch/>
        </p:blipFill>
        <p:spPr>
          <a:xfrm>
            <a:off x="4157133" y="3181317"/>
            <a:ext cx="228600" cy="76200"/>
          </a:xfrm>
          <a:prstGeom prst="rect">
            <a:avLst/>
          </a:prstGeom>
        </p:spPr>
      </p:pic>
      <p:sp>
        <p:nvSpPr>
          <p:cNvPr id="12" name="Shape 8"/>
          <p:cNvSpPr/>
          <p:nvPr/>
        </p:nvSpPr>
        <p:spPr>
          <a:xfrm>
            <a:off x="4468283" y="2777465"/>
            <a:ext cx="1430867" cy="883907"/>
          </a:xfrm>
          <a:prstGeom prst="roundRect">
            <a:avLst>
              <a:gd name="adj" fmla="val 13650"/>
            </a:avLst>
          </a:prstGeom>
          <a:solidFill>
            <a:srgbClr val="FFFFFF"/>
          </a:solidFill>
          <a:ln w="12700">
            <a:solidFill>
              <a:srgbClr val="D4D2CB"/>
            </a:solidFill>
            <a:prstDash val="solid"/>
          </a:ln>
        </p:spPr>
      </p:sp>
      <p:sp>
        <p:nvSpPr>
          <p:cNvPr id="13" name="Text 9"/>
          <p:cNvSpPr/>
          <p:nvPr/>
        </p:nvSpPr>
        <p:spPr>
          <a:xfrm>
            <a:off x="4601633" y="2961615"/>
            <a:ext cx="121496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8181B"/>
                </a:solidFill>
                <a:latin typeface="Inter" pitchFamily="34" charset="0"/>
                <a:ea typeface="Inter" pitchFamily="34" charset="-122"/>
                <a:cs typeface="Inter" pitchFamily="34" charset="-120"/>
              </a:rPr>
              <a:t>Align</a:t>
            </a:r>
            <a:endParaRPr lang="en-US" sz="1500" dirty="0"/>
          </a:p>
        </p:txBody>
      </p:sp>
      <p:sp>
        <p:nvSpPr>
          <p:cNvPr id="14" name="Text 10"/>
          <p:cNvSpPr/>
          <p:nvPr/>
        </p:nvSpPr>
        <p:spPr>
          <a:xfrm>
            <a:off x="4601633" y="3279115"/>
            <a:ext cx="12149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D5D66"/>
                </a:solidFill>
                <a:latin typeface="Inter" pitchFamily="34" charset="0"/>
                <a:ea typeface="Inter" pitchFamily="34" charset="-122"/>
                <a:cs typeface="Inter" pitchFamily="34" charset="-120"/>
              </a:rPr>
              <a:t>112 × 112</a:t>
            </a:r>
            <a:endParaRPr lang="en-US" sz="1200" dirty="0"/>
          </a:p>
        </p:txBody>
      </p:sp>
      <p:pic>
        <p:nvPicPr>
          <p:cNvPr id="15" name="Image 2" descr="connector">    </p:cNvPr>
          <p:cNvPicPr>
            <a:picLocks noChangeAspect="1"/>
          </p:cNvPicPr>
          <p:nvPr/>
        </p:nvPicPr>
        <p:blipFill>
          <a:blip r:embed="rId3"/>
          <a:srcRect l="0" r="0" t="0" b="0"/>
          <a:stretch/>
        </p:blipFill>
        <p:spPr>
          <a:xfrm>
            <a:off x="5981700" y="3181317"/>
            <a:ext cx="228600" cy="76200"/>
          </a:xfrm>
          <a:prstGeom prst="rect">
            <a:avLst/>
          </a:prstGeom>
        </p:spPr>
      </p:pic>
      <p:sp>
        <p:nvSpPr>
          <p:cNvPr id="16" name="Shape 11"/>
          <p:cNvSpPr/>
          <p:nvPr/>
        </p:nvSpPr>
        <p:spPr>
          <a:xfrm>
            <a:off x="6292850" y="2777465"/>
            <a:ext cx="1430867" cy="883907"/>
          </a:xfrm>
          <a:prstGeom prst="roundRect">
            <a:avLst>
              <a:gd name="adj" fmla="val 13650"/>
            </a:avLst>
          </a:prstGeom>
          <a:solidFill>
            <a:srgbClr val="FFFFFF"/>
          </a:solidFill>
          <a:ln w="12700">
            <a:solidFill>
              <a:srgbClr val="D4D2CB"/>
            </a:solidFill>
            <a:prstDash val="solid"/>
          </a:ln>
        </p:spPr>
      </p:sp>
      <p:sp>
        <p:nvSpPr>
          <p:cNvPr id="17" name="Text 12"/>
          <p:cNvSpPr/>
          <p:nvPr/>
        </p:nvSpPr>
        <p:spPr>
          <a:xfrm>
            <a:off x="6426200" y="2961615"/>
            <a:ext cx="121496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8181B"/>
                </a:solidFill>
                <a:latin typeface="Inter" pitchFamily="34" charset="0"/>
                <a:ea typeface="Inter" pitchFamily="34" charset="-122"/>
                <a:cs typeface="Inter" pitchFamily="34" charset="-120"/>
              </a:rPr>
              <a:t>Embed</a:t>
            </a:r>
            <a:endParaRPr lang="en-US" sz="1500" dirty="0"/>
          </a:p>
        </p:txBody>
      </p:sp>
      <p:sp>
        <p:nvSpPr>
          <p:cNvPr id="18" name="Text 13"/>
          <p:cNvSpPr/>
          <p:nvPr/>
        </p:nvSpPr>
        <p:spPr>
          <a:xfrm>
            <a:off x="6426200" y="3279115"/>
            <a:ext cx="12149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D5D66"/>
                </a:solidFill>
                <a:latin typeface="Inter" pitchFamily="34" charset="0"/>
                <a:ea typeface="Inter" pitchFamily="34" charset="-122"/>
                <a:cs typeface="Inter" pitchFamily="34" charset="-120"/>
              </a:rPr>
              <a:t>ArcFace, 512-d</a:t>
            </a:r>
            <a:endParaRPr lang="en-US" sz="1200" dirty="0"/>
          </a:p>
        </p:txBody>
      </p:sp>
      <p:pic>
        <p:nvPicPr>
          <p:cNvPr id="19" name="Image 3" descr="connector">    </p:cNvPr>
          <p:cNvPicPr>
            <a:picLocks noChangeAspect="1"/>
          </p:cNvPicPr>
          <p:nvPr/>
        </p:nvPicPr>
        <p:blipFill>
          <a:blip r:embed="rId4"/>
          <a:srcRect l="0" r="0" t="0" b="0"/>
          <a:stretch/>
        </p:blipFill>
        <p:spPr>
          <a:xfrm>
            <a:off x="7806267" y="3181317"/>
            <a:ext cx="228600" cy="76200"/>
          </a:xfrm>
          <a:prstGeom prst="rect">
            <a:avLst/>
          </a:prstGeom>
        </p:spPr>
      </p:pic>
      <p:sp>
        <p:nvSpPr>
          <p:cNvPr id="20" name="Shape 14"/>
          <p:cNvSpPr/>
          <p:nvPr/>
        </p:nvSpPr>
        <p:spPr>
          <a:xfrm>
            <a:off x="8117417" y="2678410"/>
            <a:ext cx="1430867" cy="1082014"/>
          </a:xfrm>
          <a:prstGeom prst="roundRect">
            <a:avLst>
              <a:gd name="adj" fmla="val 11151"/>
            </a:avLst>
          </a:prstGeom>
          <a:solidFill>
            <a:srgbClr val="DCFCE7"/>
          </a:solidFill>
          <a:ln w="12700">
            <a:solidFill>
              <a:srgbClr val="15803D"/>
            </a:solidFill>
            <a:prstDash val="solid"/>
          </a:ln>
        </p:spPr>
      </p:sp>
      <p:sp>
        <p:nvSpPr>
          <p:cNvPr id="21" name="Text 15"/>
          <p:cNvSpPr/>
          <p:nvPr/>
        </p:nvSpPr>
        <p:spPr>
          <a:xfrm>
            <a:off x="8250767" y="2862560"/>
            <a:ext cx="121496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532D"/>
                </a:solidFill>
                <a:latin typeface="Inter" pitchFamily="34" charset="0"/>
                <a:ea typeface="Inter" pitchFamily="34" charset="-122"/>
                <a:cs typeface="Inter" pitchFamily="34" charset="-120"/>
              </a:rPr>
              <a:t>Match</a:t>
            </a:r>
            <a:endParaRPr lang="en-US" sz="1500" dirty="0"/>
          </a:p>
        </p:txBody>
      </p:sp>
      <p:sp>
        <p:nvSpPr>
          <p:cNvPr id="22" name="Text 16"/>
          <p:cNvSpPr/>
          <p:nvPr/>
        </p:nvSpPr>
        <p:spPr>
          <a:xfrm>
            <a:off x="8250767" y="3180060"/>
            <a:ext cx="12149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532D"/>
                </a:solidFill>
                <a:latin typeface="Inter" pitchFamily="34" charset="0"/>
                <a:ea typeface="Inter" pitchFamily="34" charset="-122"/>
                <a:cs typeface="Inter" pitchFamily="34" charset="-120"/>
              </a:rPr>
              <a:t>degraded gallery · ours</a:t>
            </a:r>
            <a:endParaRPr lang="en-US" sz="1200" dirty="0"/>
          </a:p>
        </p:txBody>
      </p:sp>
      <p:pic>
        <p:nvPicPr>
          <p:cNvPr id="23" name="Image 4" descr="connector">    </p:cNvPr>
          <p:cNvPicPr>
            <a:picLocks noChangeAspect="1"/>
          </p:cNvPicPr>
          <p:nvPr/>
        </p:nvPicPr>
        <p:blipFill>
          <a:blip r:embed="rId5"/>
          <a:srcRect l="0" r="0" t="0" b="0"/>
          <a:stretch/>
        </p:blipFill>
        <p:spPr>
          <a:xfrm>
            <a:off x="9630834" y="3181317"/>
            <a:ext cx="228600" cy="76200"/>
          </a:xfrm>
          <a:prstGeom prst="rect">
            <a:avLst/>
          </a:prstGeom>
        </p:spPr>
      </p:pic>
      <p:sp>
        <p:nvSpPr>
          <p:cNvPr id="24" name="Shape 17"/>
          <p:cNvSpPr/>
          <p:nvPr/>
        </p:nvSpPr>
        <p:spPr>
          <a:xfrm>
            <a:off x="9941984" y="2678410"/>
            <a:ext cx="1430867" cy="1082014"/>
          </a:xfrm>
          <a:prstGeom prst="roundRect">
            <a:avLst>
              <a:gd name="adj" fmla="val 11151"/>
            </a:avLst>
          </a:prstGeom>
          <a:solidFill>
            <a:srgbClr val="DCFCE7"/>
          </a:solidFill>
          <a:ln w="12700">
            <a:solidFill>
              <a:srgbClr val="15803D"/>
            </a:solidFill>
            <a:prstDash val="solid"/>
          </a:ln>
        </p:spPr>
      </p:sp>
      <p:sp>
        <p:nvSpPr>
          <p:cNvPr id="25" name="Text 18"/>
          <p:cNvSpPr/>
          <p:nvPr/>
        </p:nvSpPr>
        <p:spPr>
          <a:xfrm>
            <a:off x="10075334" y="2862560"/>
            <a:ext cx="121496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532D"/>
                </a:solidFill>
                <a:latin typeface="Inter" pitchFamily="34" charset="0"/>
                <a:ea typeface="Inter" pitchFamily="34" charset="-122"/>
                <a:cs typeface="Inter" pitchFamily="34" charset="-120"/>
              </a:rPr>
              <a:t>Assign</a:t>
            </a:r>
            <a:endParaRPr lang="en-US" sz="1500" dirty="0"/>
          </a:p>
        </p:txBody>
      </p:sp>
      <p:sp>
        <p:nvSpPr>
          <p:cNvPr id="26" name="Text 19"/>
          <p:cNvSpPr/>
          <p:nvPr/>
        </p:nvSpPr>
        <p:spPr>
          <a:xfrm>
            <a:off x="10075334" y="3180060"/>
            <a:ext cx="1214967"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4532D"/>
                </a:solidFill>
                <a:latin typeface="Inter" pitchFamily="34" charset="0"/>
                <a:ea typeface="Inter" pitchFamily="34" charset="-122"/>
                <a:cs typeface="Inter" pitchFamily="34" charset="-120"/>
              </a:rPr>
              <a:t>Hungarian · ours</a:t>
            </a:r>
            <a:endParaRPr lang="en-US" sz="1200" dirty="0"/>
          </a:p>
        </p:txBody>
      </p:sp>
      <p:sp>
        <p:nvSpPr>
          <p:cNvPr id="27" name="Shape 20"/>
          <p:cNvSpPr/>
          <p:nvPr/>
        </p:nvSpPr>
        <p:spPr>
          <a:xfrm>
            <a:off x="812800" y="4135075"/>
            <a:ext cx="5181600" cy="0"/>
          </a:xfrm>
          <a:prstGeom prst="line">
            <a:avLst/>
          </a:prstGeom>
          <a:noFill/>
          <a:ln w="25400">
            <a:solidFill>
              <a:srgbClr val="18181B"/>
            </a:solidFill>
            <a:prstDash val="solid"/>
          </a:ln>
        </p:spPr>
      </p:sp>
      <p:sp>
        <p:nvSpPr>
          <p:cNvPr id="28" name="Text 21"/>
          <p:cNvSpPr/>
          <p:nvPr/>
        </p:nvSpPr>
        <p:spPr>
          <a:xfrm>
            <a:off x="812800" y="4325575"/>
            <a:ext cx="533704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181B"/>
                </a:solidFill>
                <a:latin typeface="Inter" pitchFamily="34" charset="0"/>
                <a:ea typeface="Inter" pitchFamily="34" charset="-122"/>
                <a:cs typeface="Inter" pitchFamily="34" charset="-120"/>
              </a:rPr>
              <a:t>Why not retrain?</a:t>
            </a:r>
            <a:endParaRPr lang="en-US" sz="1600" dirty="0"/>
          </a:p>
        </p:txBody>
      </p:sp>
      <p:sp>
        <p:nvSpPr>
          <p:cNvPr id="29" name="Text 22"/>
          <p:cNvSpPr/>
          <p:nvPr/>
        </p:nvSpPr>
        <p:spPr>
          <a:xfrm>
            <a:off x="812800" y="4645588"/>
            <a:ext cx="5337048" cy="7988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ArcFace learned from hundreds of thousands of people. Retraining on a few hundred Indian faces would likely make it worse, and needs a GPU.</a:t>
            </a:r>
            <a:endParaRPr lang="en-US" sz="1400" dirty="0"/>
          </a:p>
        </p:txBody>
      </p:sp>
      <p:sp>
        <p:nvSpPr>
          <p:cNvPr id="30" name="Shape 23"/>
          <p:cNvSpPr/>
          <p:nvPr/>
        </p:nvSpPr>
        <p:spPr>
          <a:xfrm>
            <a:off x="6197600" y="4135075"/>
            <a:ext cx="5181600" cy="0"/>
          </a:xfrm>
          <a:prstGeom prst="line">
            <a:avLst/>
          </a:prstGeom>
          <a:noFill/>
          <a:ln w="25400">
            <a:solidFill>
              <a:srgbClr val="15803D"/>
            </a:solidFill>
            <a:prstDash val="solid"/>
          </a:ln>
        </p:spPr>
      </p:sp>
      <p:sp>
        <p:nvSpPr>
          <p:cNvPr id="31" name="Text 24"/>
          <p:cNvSpPr/>
          <p:nvPr/>
        </p:nvSpPr>
        <p:spPr>
          <a:xfrm>
            <a:off x="6197600" y="4325575"/>
            <a:ext cx="533704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803D"/>
                </a:solidFill>
                <a:latin typeface="Inter" pitchFamily="34" charset="0"/>
                <a:ea typeface="Inter" pitchFamily="34" charset="-122"/>
                <a:cs typeface="Inter" pitchFamily="34" charset="-120"/>
              </a:rPr>
              <a:t>What we built instead</a:t>
            </a:r>
            <a:endParaRPr lang="en-US" sz="1600" dirty="0"/>
          </a:p>
        </p:txBody>
      </p:sp>
      <p:sp>
        <p:nvSpPr>
          <p:cNvPr id="32" name="Text 25"/>
          <p:cNvSpPr/>
          <p:nvPr/>
        </p:nvSpPr>
        <p:spPr>
          <a:xfrm>
            <a:off x="6197600" y="4645588"/>
            <a:ext cx="5337048"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Three classroom fixes around the networks, each switchable, so we can measure exactly what each one adds.</a:t>
            </a:r>
            <a:endParaRPr lang="en-US" sz="1400" dirty="0"/>
          </a:p>
        </p:txBody>
      </p:sp>
      <p:sp>
        <p:nvSpPr>
          <p:cNvPr id="33" name="Text 26"/>
          <p:cNvSpPr/>
          <p:nvPr/>
        </p:nvSpPr>
        <p:spPr>
          <a:xfrm>
            <a:off x="812800" y="6238247"/>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34" name="Text 27"/>
          <p:cNvSpPr/>
          <p:nvPr/>
        </p:nvSpPr>
        <p:spPr>
          <a:xfrm>
            <a:off x="10058400" y="6238247"/>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538937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SHASHANK · DETECTION</a:t>
            </a:r>
            <a:endParaRPr lang="en-US" sz="1200" dirty="0"/>
          </a:p>
        </p:txBody>
      </p:sp>
      <p:sp>
        <p:nvSpPr>
          <p:cNvPr id="3" name="Text 1"/>
          <p:cNvSpPr/>
          <p:nvPr>
            <p:ph type="title"/>
          </p:nvPr>
        </p:nvSpPr>
        <p:spPr>
          <a:xfrm>
            <a:off x="812800" y="1280154"/>
            <a:ext cx="5389372" cy="960107"/>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181B"/>
                </a:solidFill>
                <a:latin typeface="Inter" pitchFamily="34" charset="0"/>
                <a:ea typeface="Inter" pitchFamily="34" charset="-122"/>
                <a:cs typeface="Inter" pitchFamily="34" charset="-120"/>
              </a:rPr>
              <a:t>Tiling: look at the photo at full resolution</a:t>
            </a:r>
            <a:endParaRPr lang="en-US" sz="3200" dirty="0"/>
          </a:p>
        </p:txBody>
      </p:sp>
      <p:sp>
        <p:nvSpPr>
          <p:cNvPr id="4" name="Text 2"/>
          <p:cNvSpPr/>
          <p:nvPr/>
        </p:nvSpPr>
        <p:spPr>
          <a:xfrm>
            <a:off x="812800" y="2468860"/>
            <a:ext cx="5389372" cy="90924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F3F46"/>
                </a:solidFill>
                <a:latin typeface="Inter" pitchFamily="34" charset="0"/>
                <a:ea typeface="Inter" pitchFamily="34" charset="-122"/>
                <a:cs typeface="Inter" pitchFamily="34" charset="-120"/>
              </a:rPr>
              <a:t>Detectors shrink every photo to 640 px. In a 4032-px class photo, a 40-px face becomes </a:t>
            </a:r>
            <a:r>
              <a:rPr lang="en-US" sz="1600" b="1" dirty="0">
                <a:solidFill>
                  <a:srgbClr val="3F3F46"/>
                </a:solidFill>
                <a:latin typeface="Inter" pitchFamily="34" charset="0"/>
                <a:ea typeface="Inter" pitchFamily="34" charset="-122"/>
                <a:cs typeface="Inter" pitchFamily="34" charset="-120"/>
              </a:rPr>
              <a:t>6 px</a:t>
            </a:r>
            <a:r>
              <a:rPr lang="en-US" sz="1600" dirty="0">
                <a:solidFill>
                  <a:srgbClr val="3F3F46"/>
                </a:solidFill>
                <a:latin typeface="Inter" pitchFamily="34" charset="0"/>
                <a:ea typeface="Inter" pitchFamily="34" charset="-122"/>
                <a:cs typeface="Inter" pitchFamily="34" charset="-120"/>
              </a:rPr>
              <a:t> and vanishes.</a:t>
            </a:r>
            <a:endParaRPr lang="en-US" sz="1600" dirty="0"/>
          </a:p>
        </p:txBody>
      </p:sp>
      <p:sp>
        <p:nvSpPr>
          <p:cNvPr id="5" name="Text 3"/>
          <p:cNvSpPr/>
          <p:nvPr/>
        </p:nvSpPr>
        <p:spPr>
          <a:xfrm>
            <a:off x="812800" y="3606701"/>
            <a:ext cx="5389372"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181B"/>
                </a:solidFill>
                <a:latin typeface="Inter" pitchFamily="34" charset="0"/>
                <a:ea typeface="Inter" pitchFamily="34" charset="-122"/>
                <a:cs typeface="Inter" pitchFamily="34" charset="-120"/>
              </a:rPr>
              <a:t>1.</a:t>
            </a:r>
            <a:r>
              <a:rPr lang="en-US" sz="1400" dirty="0">
                <a:solidFill>
                  <a:srgbClr val="5D5D66"/>
                </a:solidFill>
                <a:latin typeface="Inter" pitchFamily="34" charset="0"/>
                <a:ea typeface="Inter" pitchFamily="34" charset="-122"/>
                <a:cs typeface="Inter" pitchFamily="34" charset="-120"/>
              </a:rPr>
              <a:t> Cut the photo into overlapping 1280-px tiles (25 % overlap) and detect in each, plus one pass on the whole photo.</a:t>
            </a:r>
            <a:endParaRPr lang="en-US" sz="1400" dirty="0"/>
          </a:p>
        </p:txBody>
      </p:sp>
      <p:sp>
        <p:nvSpPr>
          <p:cNvPr id="6" name="Text 4"/>
          <p:cNvSpPr/>
          <p:nvPr/>
        </p:nvSpPr>
        <p:spPr>
          <a:xfrm>
            <a:off x="812800" y="4231515"/>
            <a:ext cx="5389372" cy="52321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181B"/>
                </a:solidFill>
                <a:latin typeface="Inter" pitchFamily="34" charset="0"/>
                <a:ea typeface="Inter" pitchFamily="34" charset="-122"/>
                <a:cs typeface="Inter" pitchFamily="34" charset="-120"/>
              </a:rPr>
              <a:t>2.</a:t>
            </a:r>
            <a:r>
              <a:rPr lang="en-US" sz="1400" dirty="0">
                <a:solidFill>
                  <a:srgbClr val="5D5D66"/>
                </a:solidFill>
                <a:latin typeface="Inter" pitchFamily="34" charset="0"/>
                <a:ea typeface="Inter" pitchFamily="34" charset="-122"/>
                <a:cs typeface="Inter" pitchFamily="34" charset="-120"/>
              </a:rPr>
              <a:t> Drop boxes cut by a tile edge; merge duplicates with non-maximum suppression.</a:t>
            </a:r>
            <a:endParaRPr lang="en-US" sz="1400" dirty="0"/>
          </a:p>
        </p:txBody>
      </p:sp>
      <p:sp>
        <p:nvSpPr>
          <p:cNvPr id="7" name="Text 5"/>
          <p:cNvSpPr/>
          <p:nvPr/>
        </p:nvSpPr>
        <p:spPr>
          <a:xfrm>
            <a:off x="812800" y="4856328"/>
            <a:ext cx="5389372"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181B"/>
                </a:solidFill>
                <a:latin typeface="Inter" pitchFamily="34" charset="0"/>
                <a:ea typeface="Inter" pitchFamily="34" charset="-122"/>
                <a:cs typeface="Inter" pitchFamily="34" charset="-120"/>
              </a:rPr>
              <a:t>3.</a:t>
            </a:r>
            <a:r>
              <a:rPr lang="en-US" sz="1400" dirty="0">
                <a:solidFill>
                  <a:srgbClr val="5D5D66"/>
                </a:solidFill>
                <a:latin typeface="Inter" pitchFamily="34" charset="0"/>
                <a:ea typeface="Inter" pitchFamily="34" charset="-122"/>
                <a:cs typeface="Inter" pitchFamily="34" charset="-120"/>
              </a:rPr>
              <a:t> Smallest face found reliably: </a:t>
            </a:r>
            <a:r>
              <a:rPr lang="en-US" sz="1400" b="1" dirty="0">
                <a:solidFill>
                  <a:srgbClr val="15803D"/>
                </a:solidFill>
                <a:latin typeface="Inter" pitchFamily="34" charset="0"/>
                <a:ea typeface="Inter" pitchFamily="34" charset="-122"/>
                <a:cs typeface="Inter" pitchFamily="34" charset="-120"/>
              </a:rPr>
              <a:t>96 px → 28 px</a:t>
            </a:r>
            <a:r>
              <a:rPr lang="en-US" sz="1400" dirty="0">
                <a:solidFill>
                  <a:srgbClr val="5D5D66"/>
                </a:solidFill>
                <a:latin typeface="Inter" pitchFamily="34" charset="0"/>
                <a:ea typeface="Inter" pitchFamily="34" charset="-122"/>
                <a:cs typeface="Inter" pitchFamily="34" charset="-120"/>
              </a:rPr>
              <a:t>.</a:t>
            </a:r>
            <a:endParaRPr lang="en-US" sz="1400" dirty="0"/>
          </a:p>
        </p:txBody>
      </p:sp>
      <p:pic>
        <p:nvPicPr>
          <p:cNvPr id="8" name="Image 0" descr="A 4032 by 3024 photo divided into twelve overlapping 1280-pixel tiles">    </p:cNvPr>
          <p:cNvPicPr>
            <a:picLocks noChangeAspect="1"/>
          </p:cNvPicPr>
          <p:nvPr/>
        </p:nvPicPr>
        <p:blipFill>
          <a:blip r:embed="rId1"/>
          <a:srcRect l="0" r="0" t="0" b="0"/>
          <a:stretch/>
        </p:blipFill>
        <p:spPr>
          <a:xfrm>
            <a:off x="6553200" y="1371600"/>
            <a:ext cx="4826000" cy="3619500"/>
          </a:xfrm>
          <a:prstGeom prst="rect">
            <a:avLst/>
          </a:prstGeom>
        </p:spPr>
      </p:pic>
      <p:sp>
        <p:nvSpPr>
          <p:cNvPr id="9" name="Text 6"/>
          <p:cNvSpPr/>
          <p:nvPr/>
        </p:nvSpPr>
        <p:spPr>
          <a:xfrm>
            <a:off x="6553200" y="5118100"/>
            <a:ext cx="4970780" cy="452107"/>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5D66"/>
                </a:solidFill>
                <a:latin typeface="Inter" pitchFamily="34" charset="0"/>
                <a:ea typeface="Inter" pitchFamily="34" charset="-122"/>
                <a:cs typeface="Inter" pitchFamily="34" charset="-120"/>
              </a:rPr>
              <a:t>A 4032 × 3024 phone photo covered by 12 overlapping 1280-px tiles</a:t>
            </a:r>
            <a:endParaRPr lang="en-US" sz="1200" dirty="0"/>
          </a:p>
        </p:txBody>
      </p:sp>
      <p:sp>
        <p:nvSpPr>
          <p:cNvPr id="10" name="Text 7"/>
          <p:cNvSpPr/>
          <p:nvPr/>
        </p:nvSpPr>
        <p:spPr>
          <a:xfrm>
            <a:off x="812800" y="6238249"/>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11" name="Text 8"/>
          <p:cNvSpPr/>
          <p:nvPr/>
        </p:nvSpPr>
        <p:spPr>
          <a:xfrm>
            <a:off x="10058400" y="6238249"/>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SHASHANK · DETECTION RESULTS</a:t>
            </a:r>
            <a:endParaRPr lang="en-US" sz="1200" dirty="0"/>
          </a:p>
        </p:txBody>
      </p:sp>
      <p:sp>
        <p:nvSpPr>
          <p:cNvPr id="3" name="Text 1"/>
          <p:cNvSpPr/>
          <p:nvPr>
            <p:ph type="title"/>
          </p:nvPr>
        </p:nvSpPr>
        <p:spPr>
          <a:xfrm>
            <a:off x="812800" y="1330954"/>
            <a:ext cx="10883392" cy="492753"/>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181B"/>
                </a:solidFill>
                <a:latin typeface="Inter" pitchFamily="34" charset="0"/>
                <a:ea typeface="Inter" pitchFamily="34" charset="-122"/>
                <a:cs typeface="Inter" pitchFamily="34" charset="-120"/>
              </a:rPr>
              <a:t>Tiling raises recall for every detector we tried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115809"/>
          <a:ext cx="7099300" cy="2063750"/>
        </p:xfrm>
        <a:graphic>
          <a:graphicData uri="http://schemas.openxmlformats.org/drawingml/2006/table">
            <a:tbl>
              <a:tblPr/>
              <a:tblGrid>
                <a:gridCol w="2413762"/>
                <a:gridCol w="1561846"/>
                <a:gridCol w="1561846"/>
                <a:gridCol w="1561846"/>
              </a:tblGrid>
              <a:tr h="412750">
                <a:tc>
                  <a:txBody>
                    <a:bodyPr/>
                    <a:lstStyle/>
                    <a:p>
                      <a:pPr indent="0" marL="0">
                        <a:lnSpc>
                          <a:spcPts val="2100"/>
                        </a:lnSpc>
                        <a:buNone/>
                      </a:pPr>
                      <a:r>
                        <a:rPr lang="en-US" sz="1500" b="1" dirty="0">
                          <a:solidFill>
                            <a:srgbClr val="18181B"/>
                          </a:solidFill>
                          <a:latin typeface="Inter" pitchFamily="34" charset="0"/>
                          <a:ea typeface="Inter" pitchFamily="34" charset="-122"/>
                          <a:cs typeface="Inter" pitchFamily="34" charset="-120"/>
                        </a:rPr>
                        <a:t>Detector</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algn="r" indent="0" marL="0">
                        <a:lnSpc>
                          <a:spcPts val="2100"/>
                        </a:lnSpc>
                        <a:buNone/>
                      </a:pPr>
                      <a:r>
                        <a:rPr lang="en-US" sz="1500" b="1" dirty="0">
                          <a:solidFill>
                            <a:srgbClr val="18181B"/>
                          </a:solidFill>
                          <a:latin typeface="Inter" pitchFamily="34" charset="0"/>
                          <a:ea typeface="Inter" pitchFamily="34" charset="-122"/>
                          <a:cs typeface="Inter" pitchFamily="34" charset="-120"/>
                        </a:rPr>
                        <a:t>Whole photo</a:t>
                      </a:r>
                      <a:endParaRPr lang="en-US" sz="1500" dirty="0">
                        <a:latin typeface="Inter" charset="0"/>
                        <a:ea typeface="Inter" charset="0"/>
                        <a:cs typeface="Inter" charset="0"/>
                      </a:endParaRPr>
                    </a:p>
                  </a:txBody>
                  <a:tcPr marL="66675" marR="66675" marT="66675" marB="66675"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algn="r" indent="0" marL="0">
                        <a:lnSpc>
                          <a:spcPts val="2100"/>
                        </a:lnSpc>
                        <a:buNone/>
                      </a:pPr>
                      <a:r>
                        <a:rPr lang="en-US" sz="1500" b="1" dirty="0">
                          <a:solidFill>
                            <a:srgbClr val="18181B"/>
                          </a:solidFill>
                          <a:latin typeface="Inter" pitchFamily="34" charset="0"/>
                          <a:ea typeface="Inter" pitchFamily="34" charset="-122"/>
                          <a:cs typeface="Inter" pitchFamily="34" charset="-120"/>
                        </a:rPr>
                        <a:t>With tiles</a:t>
                      </a:r>
                      <a:endParaRPr lang="en-US" sz="1500" dirty="0">
                        <a:latin typeface="Inter" charset="0"/>
                        <a:ea typeface="Inter" charset="0"/>
                        <a:cs typeface="Inter" charset="0"/>
                      </a:endParaRPr>
                    </a:p>
                  </a:txBody>
                  <a:tcPr marL="66675" marR="66675" marT="66675" marB="66675"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algn="r" indent="0" marL="0">
                        <a:lnSpc>
                          <a:spcPts val="2100"/>
                        </a:lnSpc>
                        <a:buNone/>
                      </a:pPr>
                      <a:r>
                        <a:rPr lang="en-US" sz="1500" b="1" dirty="0">
                          <a:solidFill>
                            <a:srgbClr val="18181B"/>
                          </a:solidFill>
                          <a:latin typeface="Inter" pitchFamily="34" charset="0"/>
                          <a:ea typeface="Inter" pitchFamily="34" charset="-122"/>
                          <a:cs typeface="Inter" pitchFamily="34" charset="-120"/>
                        </a:rPr>
                        <a:t>ms / photo</a:t>
                      </a:r>
                      <a:endParaRPr lang="en-US" sz="1500" dirty="0">
                        <a:latin typeface="Inter" charset="0"/>
                        <a:ea typeface="Inter" charset="0"/>
                        <a:cs typeface="Inter" charset="0"/>
                      </a:endParaRPr>
                    </a:p>
                  </a:txBody>
                  <a:tcPr marL="66675" marR="66675" marT="66675" marB="66675"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r>
              <a:tr h="412750">
                <a:tc>
                  <a:txBody>
                    <a:bodyPr/>
                    <a:lstStyle/>
                    <a:p>
                      <a:pPr indent="0" marL="0">
                        <a:lnSpc>
                          <a:spcPts val="2100"/>
                        </a:lnSpc>
                        <a:buNone/>
                      </a:pPr>
                      <a:r>
                        <a:rPr lang="en-US" sz="1500" dirty="0">
                          <a:solidFill>
                            <a:srgbClr val="18181B"/>
                          </a:solidFill>
                          <a:latin typeface="Inter" pitchFamily="34" charset="0"/>
                          <a:ea typeface="Inter" pitchFamily="34" charset="-122"/>
                          <a:cs typeface="Inter" pitchFamily="34" charset="-120"/>
                        </a:rPr>
                        <a:t>SCRFD-10GF (used)</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2100"/>
                        </a:lnSpc>
                        <a:buNone/>
                      </a:pPr>
                      <a:r>
                        <a:rPr lang="en-US" sz="1500" dirty="0">
                          <a:solidFill>
                            <a:srgbClr val="18181B"/>
                          </a:solidFill>
                          <a:latin typeface="Inter" pitchFamily="34" charset="0"/>
                          <a:ea typeface="Inter" pitchFamily="34" charset="-122"/>
                          <a:cs typeface="Inter" pitchFamily="34" charset="-120"/>
                        </a:rPr>
                        <a:t>87.9 %</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2100"/>
                        </a:lnSpc>
                        <a:buNone/>
                      </a:pPr>
                      <a:r>
                        <a:rPr lang="en-US" sz="1500" dirty="0">
                          <a:solidFill>
                            <a:srgbClr val="15803D"/>
                          </a:solidFill>
                          <a:latin typeface="Inter" pitchFamily="34" charset="0"/>
                          <a:ea typeface="Inter" pitchFamily="34" charset="-122"/>
                          <a:cs typeface="Inter" pitchFamily="34" charset="-120"/>
                        </a:rPr>
                        <a:t>97.4 %</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2100"/>
                        </a:lnSpc>
                        <a:buNone/>
                      </a:pPr>
                      <a:r>
                        <a:rPr lang="en-US" sz="1500" dirty="0">
                          <a:solidFill>
                            <a:srgbClr val="18181B"/>
                          </a:solidFill>
                          <a:latin typeface="Inter" pitchFamily="34" charset="0"/>
                          <a:ea typeface="Inter" pitchFamily="34" charset="-122"/>
                          <a:cs typeface="Inter" pitchFamily="34" charset="-120"/>
                        </a:rPr>
                        <a:t>1167</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412750">
                <a:tc>
                  <a:txBody>
                    <a:bodyPr/>
                    <a:lstStyle/>
                    <a:p>
                      <a:pPr indent="0" marL="0">
                        <a:lnSpc>
                          <a:spcPts val="2100"/>
                        </a:lnSpc>
                        <a:buNone/>
                      </a:pPr>
                      <a:r>
                        <a:rPr lang="en-US" sz="1500" dirty="0">
                          <a:solidFill>
                            <a:srgbClr val="18181B"/>
                          </a:solidFill>
                          <a:latin typeface="Inter" pitchFamily="34" charset="0"/>
                          <a:ea typeface="Inter" pitchFamily="34" charset="-122"/>
                          <a:cs typeface="Inter" pitchFamily="34" charset="-120"/>
                        </a:rPr>
                        <a:t>SCRFD-500MF</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2100"/>
                        </a:lnSpc>
                        <a:buNone/>
                      </a:pPr>
                      <a:r>
                        <a:rPr lang="en-US" sz="1500" dirty="0">
                          <a:solidFill>
                            <a:srgbClr val="18181B"/>
                          </a:solidFill>
                          <a:latin typeface="Inter" pitchFamily="34" charset="0"/>
                          <a:ea typeface="Inter" pitchFamily="34" charset="-122"/>
                          <a:cs typeface="Inter" pitchFamily="34" charset="-120"/>
                        </a:rPr>
                        <a:t>80.5 %</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2100"/>
                        </a:lnSpc>
                        <a:buNone/>
                      </a:pPr>
                      <a:r>
                        <a:rPr lang="en-US" sz="1500" dirty="0">
                          <a:solidFill>
                            <a:srgbClr val="15803D"/>
                          </a:solidFill>
                          <a:latin typeface="Inter" pitchFamily="34" charset="0"/>
                          <a:ea typeface="Inter" pitchFamily="34" charset="-122"/>
                          <a:cs typeface="Inter" pitchFamily="34" charset="-120"/>
                        </a:rPr>
                        <a:t>94.6 %</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2100"/>
                        </a:lnSpc>
                        <a:buNone/>
                      </a:pPr>
                      <a:r>
                        <a:rPr lang="en-US" sz="1500" dirty="0">
                          <a:solidFill>
                            <a:srgbClr val="18181B"/>
                          </a:solidFill>
                          <a:latin typeface="Inter" pitchFamily="34" charset="0"/>
                          <a:ea typeface="Inter" pitchFamily="34" charset="-122"/>
                          <a:cs typeface="Inter" pitchFamily="34" charset="-120"/>
                        </a:rPr>
                        <a:t>135</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412750">
                <a:tc>
                  <a:txBody>
                    <a:bodyPr/>
                    <a:lstStyle/>
                    <a:p>
                      <a:pPr indent="0" marL="0">
                        <a:lnSpc>
                          <a:spcPts val="2100"/>
                        </a:lnSpc>
                        <a:buNone/>
                      </a:pPr>
                      <a:r>
                        <a:rPr lang="en-US" sz="1500" dirty="0">
                          <a:solidFill>
                            <a:srgbClr val="18181B"/>
                          </a:solidFill>
                          <a:latin typeface="Inter" pitchFamily="34" charset="0"/>
                          <a:ea typeface="Inter" pitchFamily="34" charset="-122"/>
                          <a:cs typeface="Inter" pitchFamily="34" charset="-120"/>
                        </a:rPr>
                        <a:t>YuNet</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2100"/>
                        </a:lnSpc>
                        <a:buNone/>
                      </a:pPr>
                      <a:r>
                        <a:rPr lang="en-US" sz="1500" dirty="0">
                          <a:solidFill>
                            <a:srgbClr val="18181B"/>
                          </a:solidFill>
                          <a:latin typeface="Inter" pitchFamily="34" charset="0"/>
                          <a:ea typeface="Inter" pitchFamily="34" charset="-122"/>
                          <a:cs typeface="Inter" pitchFamily="34" charset="-120"/>
                        </a:rPr>
                        <a:t>83.4 %</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2100"/>
                        </a:lnSpc>
                        <a:buNone/>
                      </a:pPr>
                      <a:r>
                        <a:rPr lang="en-US" sz="1500" dirty="0">
                          <a:solidFill>
                            <a:srgbClr val="15803D"/>
                          </a:solidFill>
                          <a:latin typeface="Inter" pitchFamily="34" charset="0"/>
                          <a:ea typeface="Inter" pitchFamily="34" charset="-122"/>
                          <a:cs typeface="Inter" pitchFamily="34" charset="-120"/>
                        </a:rPr>
                        <a:t>96.3 %</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2100"/>
                        </a:lnSpc>
                        <a:buNone/>
                      </a:pPr>
                      <a:r>
                        <a:rPr lang="en-US" sz="1500" dirty="0">
                          <a:solidFill>
                            <a:srgbClr val="18181B"/>
                          </a:solidFill>
                          <a:latin typeface="Inter" pitchFamily="34" charset="0"/>
                          <a:ea typeface="Inter" pitchFamily="34" charset="-122"/>
                          <a:cs typeface="Inter" pitchFamily="34" charset="-120"/>
                        </a:rPr>
                        <a:t>102</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412750">
                <a:tc>
                  <a:txBody>
                    <a:bodyPr/>
                    <a:lstStyle/>
                    <a:p>
                      <a:pPr indent="0" marL="0">
                        <a:lnSpc>
                          <a:spcPts val="2100"/>
                        </a:lnSpc>
                        <a:buNone/>
                      </a:pPr>
                      <a:r>
                        <a:rPr lang="en-US" sz="1500" dirty="0">
                          <a:solidFill>
                            <a:srgbClr val="18181B"/>
                          </a:solidFill>
                          <a:latin typeface="Inter" pitchFamily="34" charset="0"/>
                          <a:ea typeface="Inter" pitchFamily="34" charset="-122"/>
                          <a:cs typeface="Inter" pitchFamily="34" charset="-120"/>
                        </a:rPr>
                        <a:t>Haar cascade</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2100"/>
                        </a:lnSpc>
                        <a:buNone/>
                      </a:pPr>
                      <a:r>
                        <a:rPr lang="en-US" sz="1500" dirty="0">
                          <a:solidFill>
                            <a:srgbClr val="18181B"/>
                          </a:solidFill>
                          <a:latin typeface="Inter" pitchFamily="34" charset="0"/>
                          <a:ea typeface="Inter" pitchFamily="34" charset="-122"/>
                          <a:cs typeface="Inter" pitchFamily="34" charset="-120"/>
                        </a:rPr>
                        <a:t>5.0 %</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2100"/>
                        </a:lnSpc>
                        <a:buNone/>
                      </a:pPr>
                      <a:r>
                        <a:rPr lang="en-US" sz="1500" dirty="0">
                          <a:solidFill>
                            <a:srgbClr val="15803D"/>
                          </a:solidFill>
                          <a:latin typeface="Inter" pitchFamily="34" charset="0"/>
                          <a:ea typeface="Inter" pitchFamily="34" charset="-122"/>
                          <a:cs typeface="Inter" pitchFamily="34" charset="-120"/>
                        </a:rPr>
                        <a:t>74.8 %</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2100"/>
                        </a:lnSpc>
                        <a:buNone/>
                      </a:pPr>
                      <a:r>
                        <a:rPr lang="en-US" sz="1500" dirty="0">
                          <a:solidFill>
                            <a:srgbClr val="18181B"/>
                          </a:solidFill>
                          <a:latin typeface="Inter" pitchFamily="34" charset="0"/>
                          <a:ea typeface="Inter" pitchFamily="34" charset="-122"/>
                          <a:cs typeface="Inter" pitchFamily="34" charset="-120"/>
                        </a:rPr>
                        <a:t>347</a:t>
                      </a:r>
                      <a:endParaRPr lang="en-US" sz="1500" dirty="0">
                        <a:latin typeface="Inter" charset="0"/>
                        <a:ea typeface="Inter" charset="0"/>
                        <a:cs typeface="Inter" charset="0"/>
                      </a:endParaRPr>
                    </a:p>
                  </a:txBody>
                  <a:tcPr marL="66675" marR="66675" marT="66675" marB="6667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bl>
          </a:graphicData>
        </a:graphic>
      </p:graphicFrame>
      <p:sp>
        <p:nvSpPr>
          <p:cNvPr id="5" name="Shape 2"/>
          <p:cNvSpPr/>
          <p:nvPr/>
        </p:nvSpPr>
        <p:spPr>
          <a:xfrm>
            <a:off x="8331200" y="2103109"/>
            <a:ext cx="3048000" cy="3131741"/>
          </a:xfrm>
          <a:prstGeom prst="roundRect">
            <a:avLst>
              <a:gd name="adj" fmla="val 5000"/>
            </a:avLst>
          </a:prstGeom>
          <a:solidFill>
            <a:srgbClr val="141416"/>
          </a:solidFill>
          <a:ln/>
        </p:spPr>
      </p:sp>
      <p:sp>
        <p:nvSpPr>
          <p:cNvPr id="6" name="Text 3"/>
          <p:cNvSpPr/>
          <p:nvPr/>
        </p:nvSpPr>
        <p:spPr>
          <a:xfrm>
            <a:off x="8636000" y="2407909"/>
            <a:ext cx="2511552"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4ADE80"/>
                </a:solidFill>
                <a:latin typeface="JetBrains Mono" pitchFamily="49" charset="0"/>
                <a:ea typeface="JetBrains Mono" pitchFamily="49" charset="-122"/>
                <a:cs typeface="JetBrains Mono" pitchFamily="49" charset="-120"/>
              </a:rPr>
              <a:t>5 → 75 %</a:t>
            </a:r>
            <a:endParaRPr lang="en-US" sz="3600" dirty="0"/>
          </a:p>
        </p:txBody>
      </p:sp>
      <p:sp>
        <p:nvSpPr>
          <p:cNvPr id="7" name="Text 4"/>
          <p:cNvSpPr/>
          <p:nvPr/>
        </p:nvSpPr>
        <p:spPr>
          <a:xfrm>
            <a:off x="8636000" y="3017509"/>
            <a:ext cx="251155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4F5"/>
                </a:solidFill>
                <a:latin typeface="Inter" pitchFamily="34" charset="0"/>
                <a:ea typeface="Inter" pitchFamily="34" charset="-122"/>
                <a:cs typeface="Inter" pitchFamily="34" charset="-120"/>
              </a:rPr>
              <a:t>Even the classical Haar detector (2001) goes from almost nothing to three faces in four.</a:t>
            </a:r>
            <a:endParaRPr lang="en-US" sz="1500" dirty="0"/>
          </a:p>
        </p:txBody>
      </p:sp>
      <p:sp>
        <p:nvSpPr>
          <p:cNvPr id="8" name="Text 5"/>
          <p:cNvSpPr/>
          <p:nvPr/>
        </p:nvSpPr>
        <p:spPr>
          <a:xfrm>
            <a:off x="8636000" y="4236709"/>
            <a:ext cx="2511552"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1A1AA"/>
                </a:solidFill>
                <a:latin typeface="Inter" pitchFamily="34" charset="0"/>
                <a:ea typeface="Inter" pitchFamily="34" charset="-122"/>
                <a:cs typeface="Inter" pitchFamily="34" charset="-120"/>
              </a:rPr>
              <a:t>YuNet is close to SCRFD but adds 66 false boxes, so we keep SCRFD.</a:t>
            </a:r>
            <a:endParaRPr lang="en-US" sz="1300" dirty="0"/>
          </a:p>
        </p:txBody>
      </p:sp>
      <p:sp>
        <p:nvSpPr>
          <p:cNvPr id="9" name="Text 6"/>
          <p:cNvSpPr/>
          <p:nvPr/>
        </p:nvSpPr>
        <p:spPr>
          <a:xfrm>
            <a:off x="812800" y="5539649"/>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Recall on 793 hand-labelled faces in 10 real class photos (4032 × 3024). CPU time on an Apple M2 laptop.</a:t>
            </a:r>
            <a:endParaRPr lang="en-US" sz="1300" dirty="0"/>
          </a:p>
        </p:txBody>
      </p:sp>
      <p:sp>
        <p:nvSpPr>
          <p:cNvPr id="10" name="Text 7"/>
          <p:cNvSpPr/>
          <p:nvPr/>
        </p:nvSpPr>
        <p:spPr>
          <a:xfrm>
            <a:off x="812800" y="6238249"/>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11" name="Text 8"/>
          <p:cNvSpPr/>
          <p:nvPr/>
        </p:nvSpPr>
        <p:spPr>
          <a:xfrm>
            <a:off x="10058400" y="6238249"/>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SHASHANK · GROUND TRUTH</a:t>
            </a:r>
            <a:endParaRPr lang="en-US" sz="1200" dirty="0"/>
          </a:p>
        </p:txBody>
      </p:sp>
      <p:sp>
        <p:nvSpPr>
          <p:cNvPr id="3" name="Text 1"/>
          <p:cNvSpPr/>
          <p:nvPr>
            <p:ph type="title"/>
          </p:nvPr>
        </p:nvSpPr>
        <p:spPr>
          <a:xfrm>
            <a:off x="812800" y="1330954"/>
            <a:ext cx="10883392" cy="960107"/>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181B"/>
                </a:solidFill>
                <a:latin typeface="Inter" pitchFamily="34" charset="0"/>
                <a:ea typeface="Inter" pitchFamily="34" charset="-122"/>
                <a:cs typeface="Inter" pitchFamily="34" charset="-120"/>
              </a:rPr>
              <a:t>Building the answer key: every face in 10 photos, labelled by hand</a:t>
            </a:r>
            <a:endParaRPr lang="en-US" sz="3200" dirty="0"/>
          </a:p>
        </p:txBody>
      </p:sp>
      <p:sp>
        <p:nvSpPr>
          <p:cNvPr id="4" name="Text 2"/>
          <p:cNvSpPr/>
          <p:nvPr/>
        </p:nvSpPr>
        <p:spPr>
          <a:xfrm>
            <a:off x="812800" y="2570460"/>
            <a:ext cx="457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803D"/>
                </a:solidFill>
                <a:latin typeface="JetBrains Mono" pitchFamily="49" charset="0"/>
                <a:ea typeface="JetBrains Mono" pitchFamily="49" charset="-122"/>
                <a:cs typeface="JetBrains Mono" pitchFamily="49" charset="-120"/>
              </a:rPr>
              <a:t>01</a:t>
            </a:r>
            <a:endParaRPr lang="en-US" sz="1600" dirty="0"/>
          </a:p>
        </p:txBody>
      </p:sp>
      <p:sp>
        <p:nvSpPr>
          <p:cNvPr id="5" name="Text 3"/>
          <p:cNvSpPr/>
          <p:nvPr/>
        </p:nvSpPr>
        <p:spPr>
          <a:xfrm>
            <a:off x="1371600" y="2570460"/>
            <a:ext cx="648817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181B"/>
                </a:solidFill>
                <a:latin typeface="Inter" pitchFamily="34" charset="0"/>
                <a:ea typeface="Inter" pitchFamily="34" charset="-122"/>
                <a:cs typeface="Inter" pitchFamily="34" charset="-120"/>
              </a:rPr>
              <a:t>Propose every possible face</a:t>
            </a:r>
            <a:endParaRPr lang="en-US" sz="1600" dirty="0"/>
          </a:p>
        </p:txBody>
      </p:sp>
      <p:sp>
        <p:nvSpPr>
          <p:cNvPr id="6" name="Text 4"/>
          <p:cNvSpPr/>
          <p:nvPr/>
        </p:nvSpPr>
        <p:spPr>
          <a:xfrm>
            <a:off x="1371600" y="2852375"/>
            <a:ext cx="648817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Our labelling tool runs tiled SCRFD at a low threshold (0.3), so almost nothing is missed.</a:t>
            </a:r>
            <a:endParaRPr lang="en-US" sz="1300" dirty="0"/>
          </a:p>
        </p:txBody>
      </p:sp>
      <p:sp>
        <p:nvSpPr>
          <p:cNvPr id="7" name="Text 5"/>
          <p:cNvSpPr/>
          <p:nvPr/>
        </p:nvSpPr>
        <p:spPr>
          <a:xfrm>
            <a:off x="812800" y="3492401"/>
            <a:ext cx="457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803D"/>
                </a:solidFill>
                <a:latin typeface="JetBrains Mono" pitchFamily="49" charset="0"/>
                <a:ea typeface="JetBrains Mono" pitchFamily="49" charset="-122"/>
                <a:cs typeface="JetBrains Mono" pitchFamily="49" charset="-120"/>
              </a:rPr>
              <a:t>02</a:t>
            </a:r>
            <a:endParaRPr lang="en-US" sz="1600" dirty="0"/>
          </a:p>
        </p:txBody>
      </p:sp>
      <p:sp>
        <p:nvSpPr>
          <p:cNvPr id="8" name="Text 6"/>
          <p:cNvSpPr/>
          <p:nvPr/>
        </p:nvSpPr>
        <p:spPr>
          <a:xfrm>
            <a:off x="1371600" y="3492401"/>
            <a:ext cx="648817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181B"/>
                </a:solidFill>
                <a:latin typeface="Inter" pitchFamily="34" charset="0"/>
                <a:ea typeface="Inter" pitchFamily="34" charset="-122"/>
                <a:cs typeface="Inter" pitchFamily="34" charset="-120"/>
              </a:rPr>
              <a:t>Tag each box</a:t>
            </a:r>
            <a:endParaRPr lang="en-US" sz="1600" dirty="0"/>
          </a:p>
        </p:txBody>
      </p:sp>
      <p:sp>
        <p:nvSpPr>
          <p:cNvPr id="9" name="Text 7"/>
          <p:cNvSpPr/>
          <p:nvPr/>
        </p:nvSpPr>
        <p:spPr>
          <a:xfrm>
            <a:off x="1371600" y="3774315"/>
            <a:ext cx="648817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An enrolled student’s roll number, “unknown”, or “not a face”. Click the photo to add a face the detector missed.</a:t>
            </a:r>
            <a:endParaRPr lang="en-US" sz="1300" dirty="0"/>
          </a:p>
        </p:txBody>
      </p:sp>
      <p:sp>
        <p:nvSpPr>
          <p:cNvPr id="10" name="Text 8"/>
          <p:cNvSpPr/>
          <p:nvPr/>
        </p:nvSpPr>
        <p:spPr>
          <a:xfrm>
            <a:off x="812800" y="4414341"/>
            <a:ext cx="4572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5803D"/>
                </a:solidFill>
                <a:latin typeface="JetBrains Mono" pitchFamily="49" charset="0"/>
                <a:ea typeface="JetBrains Mono" pitchFamily="49" charset="-122"/>
                <a:cs typeface="JetBrains Mono" pitchFamily="49" charset="-120"/>
              </a:rPr>
              <a:t>03</a:t>
            </a:r>
            <a:endParaRPr lang="en-US" sz="1600" dirty="0"/>
          </a:p>
        </p:txBody>
      </p:sp>
      <p:sp>
        <p:nvSpPr>
          <p:cNvPr id="11" name="Text 9"/>
          <p:cNvSpPr/>
          <p:nvPr/>
        </p:nvSpPr>
        <p:spPr>
          <a:xfrm>
            <a:off x="1371600" y="4414341"/>
            <a:ext cx="648817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181B"/>
                </a:solidFill>
                <a:latin typeface="Inter" pitchFamily="34" charset="0"/>
                <a:ea typeface="Inter" pitchFamily="34" charset="-122"/>
                <a:cs typeface="Inter" pitchFamily="34" charset="-120"/>
              </a:rPr>
              <a:t>Score against it</a:t>
            </a:r>
            <a:endParaRPr lang="en-US" sz="1600" dirty="0"/>
          </a:p>
        </p:txBody>
      </p:sp>
      <p:sp>
        <p:nvSpPr>
          <p:cNvPr id="12" name="Text 10"/>
          <p:cNvSpPr/>
          <p:nvPr/>
        </p:nvSpPr>
        <p:spPr>
          <a:xfrm>
            <a:off x="1371600" y="4696256"/>
            <a:ext cx="648817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A detection counts as a face when it overlaps a labelled box by IoU ≥ 0.4. Runs locally; no photo leaves the laptop.</a:t>
            </a:r>
            <a:endParaRPr lang="en-US" sz="1300" dirty="0"/>
          </a:p>
        </p:txBody>
      </p:sp>
      <p:sp>
        <p:nvSpPr>
          <p:cNvPr id="13" name="Shape 11"/>
          <p:cNvSpPr/>
          <p:nvPr/>
        </p:nvSpPr>
        <p:spPr>
          <a:xfrm>
            <a:off x="8077200" y="2570460"/>
            <a:ext cx="1587500" cy="1249627"/>
          </a:xfrm>
          <a:prstGeom prst="roundRect">
            <a:avLst>
              <a:gd name="adj" fmla="val 10163"/>
            </a:avLst>
          </a:prstGeom>
          <a:solidFill>
            <a:srgbClr val="141416"/>
          </a:solidFill>
          <a:ln/>
        </p:spPr>
      </p:sp>
      <p:sp>
        <p:nvSpPr>
          <p:cNvPr id="14" name="Text 12"/>
          <p:cNvSpPr/>
          <p:nvPr/>
        </p:nvSpPr>
        <p:spPr>
          <a:xfrm>
            <a:off x="8280400" y="2773660"/>
            <a:ext cx="12319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4ADE80"/>
                </a:solidFill>
                <a:latin typeface="JetBrains Mono" pitchFamily="49" charset="0"/>
                <a:ea typeface="JetBrains Mono" pitchFamily="49" charset="-122"/>
                <a:cs typeface="JetBrains Mono" pitchFamily="49" charset="-120"/>
              </a:rPr>
              <a:t>804</a:t>
            </a:r>
            <a:endParaRPr lang="en-US" sz="3000" dirty="0"/>
          </a:p>
        </p:txBody>
      </p:sp>
      <p:sp>
        <p:nvSpPr>
          <p:cNvPr id="15" name="Text 13"/>
          <p:cNvSpPr/>
          <p:nvPr/>
        </p:nvSpPr>
        <p:spPr>
          <a:xfrm>
            <a:off x="8280400" y="3205460"/>
            <a:ext cx="123190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4D4D8"/>
                </a:solidFill>
                <a:latin typeface="Inter" pitchFamily="34" charset="0"/>
                <a:ea typeface="Inter" pitchFamily="34" charset="-122"/>
                <a:cs typeface="Inter" pitchFamily="34" charset="-120"/>
              </a:rPr>
              <a:t>faces labelled</a:t>
            </a:r>
            <a:endParaRPr lang="en-US" sz="1200" dirty="0"/>
          </a:p>
        </p:txBody>
      </p:sp>
      <p:sp>
        <p:nvSpPr>
          <p:cNvPr id="16" name="Shape 14"/>
          <p:cNvSpPr/>
          <p:nvPr/>
        </p:nvSpPr>
        <p:spPr>
          <a:xfrm>
            <a:off x="9791700" y="2570460"/>
            <a:ext cx="1587500" cy="1249627"/>
          </a:xfrm>
          <a:prstGeom prst="roundRect">
            <a:avLst>
              <a:gd name="adj" fmla="val 10163"/>
            </a:avLst>
          </a:prstGeom>
          <a:solidFill>
            <a:srgbClr val="141416"/>
          </a:solidFill>
          <a:ln/>
        </p:spPr>
      </p:sp>
      <p:sp>
        <p:nvSpPr>
          <p:cNvPr id="17" name="Text 15"/>
          <p:cNvSpPr/>
          <p:nvPr/>
        </p:nvSpPr>
        <p:spPr>
          <a:xfrm>
            <a:off x="9994900" y="2773660"/>
            <a:ext cx="12319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4ADE80"/>
                </a:solidFill>
                <a:latin typeface="JetBrains Mono" pitchFamily="49" charset="0"/>
                <a:ea typeface="JetBrains Mono" pitchFamily="49" charset="-122"/>
                <a:cs typeface="JetBrains Mono" pitchFamily="49" charset="-120"/>
              </a:rPr>
              <a:t>117</a:t>
            </a:r>
            <a:endParaRPr lang="en-US" sz="3000" dirty="0"/>
          </a:p>
        </p:txBody>
      </p:sp>
      <p:sp>
        <p:nvSpPr>
          <p:cNvPr id="18" name="Text 16"/>
          <p:cNvSpPr/>
          <p:nvPr/>
        </p:nvSpPr>
        <p:spPr>
          <a:xfrm>
            <a:off x="9994900" y="3205460"/>
            <a:ext cx="12319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4D4D8"/>
                </a:solidFill>
                <a:latin typeface="Inter" pitchFamily="34" charset="0"/>
                <a:ea typeface="Inter" pitchFamily="34" charset="-122"/>
                <a:cs typeface="Inter" pitchFamily="34" charset="-120"/>
              </a:rPr>
              <a:t>student appearances</a:t>
            </a:r>
            <a:endParaRPr lang="en-US" sz="1200" dirty="0"/>
          </a:p>
        </p:txBody>
      </p:sp>
      <p:sp>
        <p:nvSpPr>
          <p:cNvPr id="19" name="Shape 17"/>
          <p:cNvSpPr/>
          <p:nvPr/>
        </p:nvSpPr>
        <p:spPr>
          <a:xfrm>
            <a:off x="8080375" y="3950264"/>
            <a:ext cx="1581150" cy="1255977"/>
          </a:xfrm>
          <a:prstGeom prst="roundRect">
            <a:avLst>
              <a:gd name="adj" fmla="val 9859"/>
            </a:avLst>
          </a:prstGeom>
          <a:solidFill>
            <a:srgbClr val="FFFFFF"/>
          </a:solidFill>
          <a:ln w="6350">
            <a:solidFill>
              <a:srgbClr val="E3E1DB"/>
            </a:solidFill>
            <a:prstDash val="solid"/>
          </a:ln>
        </p:spPr>
      </p:sp>
      <p:sp>
        <p:nvSpPr>
          <p:cNvPr id="20" name="Text 18"/>
          <p:cNvSpPr/>
          <p:nvPr/>
        </p:nvSpPr>
        <p:spPr>
          <a:xfrm>
            <a:off x="8286750" y="4156639"/>
            <a:ext cx="12192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18181B"/>
                </a:solidFill>
                <a:latin typeface="JetBrains Mono" pitchFamily="49" charset="0"/>
                <a:ea typeface="JetBrains Mono" pitchFamily="49" charset="-122"/>
                <a:cs typeface="JetBrains Mono" pitchFamily="49" charset="-120"/>
              </a:rPr>
              <a:t>676</a:t>
            </a:r>
            <a:endParaRPr lang="en-US" sz="3000" dirty="0"/>
          </a:p>
        </p:txBody>
      </p:sp>
      <p:sp>
        <p:nvSpPr>
          <p:cNvPr id="21" name="Text 19"/>
          <p:cNvSpPr/>
          <p:nvPr/>
        </p:nvSpPr>
        <p:spPr>
          <a:xfrm>
            <a:off x="8286750" y="4588439"/>
            <a:ext cx="12192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D5D66"/>
                </a:solidFill>
                <a:latin typeface="Inter" pitchFamily="34" charset="0"/>
                <a:ea typeface="Inter" pitchFamily="34" charset="-122"/>
                <a:cs typeface="Inter" pitchFamily="34" charset="-120"/>
              </a:rPr>
              <a:t>strangers to reject</a:t>
            </a:r>
            <a:endParaRPr lang="en-US" sz="1200" dirty="0"/>
          </a:p>
        </p:txBody>
      </p:sp>
      <p:sp>
        <p:nvSpPr>
          <p:cNvPr id="22" name="Shape 20"/>
          <p:cNvSpPr/>
          <p:nvPr/>
        </p:nvSpPr>
        <p:spPr>
          <a:xfrm>
            <a:off x="9794875" y="3950264"/>
            <a:ext cx="1581150" cy="1255977"/>
          </a:xfrm>
          <a:prstGeom prst="roundRect">
            <a:avLst>
              <a:gd name="adj" fmla="val 9859"/>
            </a:avLst>
          </a:prstGeom>
          <a:solidFill>
            <a:srgbClr val="FFFFFF"/>
          </a:solidFill>
          <a:ln w="6350">
            <a:solidFill>
              <a:srgbClr val="E3E1DB"/>
            </a:solidFill>
            <a:prstDash val="solid"/>
          </a:ln>
        </p:spPr>
      </p:sp>
      <p:sp>
        <p:nvSpPr>
          <p:cNvPr id="23" name="Text 21"/>
          <p:cNvSpPr/>
          <p:nvPr/>
        </p:nvSpPr>
        <p:spPr>
          <a:xfrm>
            <a:off x="10001250" y="4156639"/>
            <a:ext cx="1219200" cy="406400"/>
          </a:xfrm>
          <a:prstGeom prst="rect">
            <a:avLst/>
          </a:prstGeom>
          <a:noFill/>
          <a:ln/>
        </p:spPr>
        <p:txBody>
          <a:bodyPr wrap="square" lIns="0" tIns="0" rIns="0" bIns="0" rtlCol="0" anchor="t">
            <a:normAutofit/>
          </a:bodyPr>
          <a:lstStyle/>
          <a:p>
            <a:pPr algn="l" indent="0" marL="0">
              <a:lnSpc>
                <a:spcPts val="3000"/>
              </a:lnSpc>
              <a:buNone/>
            </a:pPr>
            <a:r>
              <a:rPr lang="en-US" sz="3000" b="1" dirty="0">
                <a:solidFill>
                  <a:srgbClr val="18181B"/>
                </a:solidFill>
                <a:latin typeface="JetBrains Mono" pitchFamily="49" charset="0"/>
                <a:ea typeface="JetBrains Mono" pitchFamily="49" charset="-122"/>
                <a:cs typeface="JetBrains Mono" pitchFamily="49" charset="-120"/>
              </a:rPr>
              <a:t>11</a:t>
            </a:r>
            <a:endParaRPr lang="en-US" sz="3000" dirty="0"/>
          </a:p>
        </p:txBody>
      </p:sp>
      <p:sp>
        <p:nvSpPr>
          <p:cNvPr id="24" name="Text 22"/>
          <p:cNvSpPr/>
          <p:nvPr/>
        </p:nvSpPr>
        <p:spPr>
          <a:xfrm>
            <a:off x="10001250" y="4588439"/>
            <a:ext cx="12192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D5D66"/>
                </a:solidFill>
                <a:latin typeface="Inter" pitchFamily="34" charset="0"/>
                <a:ea typeface="Inter" pitchFamily="34" charset="-122"/>
                <a:cs typeface="Inter" pitchFamily="34" charset="-120"/>
              </a:rPr>
              <a:t>false boxes, not faces</a:t>
            </a:r>
            <a:endParaRPr lang="en-US" sz="1200" dirty="0"/>
          </a:p>
        </p:txBody>
      </p:sp>
      <p:sp>
        <p:nvSpPr>
          <p:cNvPr id="25" name="Text 23"/>
          <p:cNvSpPr/>
          <p:nvPr/>
        </p:nvSpPr>
        <p:spPr>
          <a:xfrm>
            <a:off x="812800" y="6238249"/>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26" name="Text 24"/>
          <p:cNvSpPr/>
          <p:nvPr/>
        </p:nvSpPr>
        <p:spPr>
          <a:xfrm>
            <a:off x="10058400" y="6238249"/>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SHASHANK · ALIGNMENT AND IMAGE QUALITY</a:t>
            </a:r>
            <a:endParaRPr lang="en-US" sz="1200" dirty="0"/>
          </a:p>
        </p:txBody>
      </p:sp>
      <p:sp>
        <p:nvSpPr>
          <p:cNvPr id="3" name="Text 1"/>
          <p:cNvSpPr/>
          <p:nvPr>
            <p:ph type="title"/>
          </p:nvPr>
        </p:nvSpPr>
        <p:spPr>
          <a:xfrm>
            <a:off x="812800" y="1330954"/>
            <a:ext cx="10883392" cy="492753"/>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181B"/>
                </a:solidFill>
                <a:latin typeface="Inter" pitchFamily="34" charset="0"/>
                <a:ea typeface="Inter" pitchFamily="34" charset="-122"/>
                <a:cs typeface="Inter" pitchFamily="34" charset="-120"/>
              </a:rPr>
              <a:t>Image processing prepares every face</a:t>
            </a:r>
            <a:endParaRPr lang="en-US" sz="3200" dirty="0"/>
          </a:p>
        </p:txBody>
      </p:sp>
      <p:pic>
        <p:nvPicPr>
          <p:cNvPr id="4" name="Image 0" descr="A tilted face with five landmarks is warped by a similarity transform into an upright 112 by 112 crop with the landmarks on a fixed template">    </p:cNvPr>
          <p:cNvPicPr>
            <a:picLocks noChangeAspect="1"/>
          </p:cNvPicPr>
          <p:nvPr/>
        </p:nvPicPr>
        <p:blipFill>
          <a:blip r:embed="rId1"/>
          <a:srcRect l="-88" r="-88" t="0" b="0"/>
          <a:stretch/>
        </p:blipFill>
        <p:spPr>
          <a:xfrm>
            <a:off x="812800" y="2103109"/>
            <a:ext cx="3810000" cy="1797050"/>
          </a:xfrm>
          <a:prstGeom prst="rect">
            <a:avLst/>
          </a:prstGeom>
        </p:spPr>
      </p:pic>
      <p:sp>
        <p:nvSpPr>
          <p:cNvPr id="5" name="Text 2"/>
          <p:cNvSpPr/>
          <p:nvPr/>
        </p:nvSpPr>
        <p:spPr>
          <a:xfrm>
            <a:off x="812800" y="4052559"/>
            <a:ext cx="4709160" cy="7988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F3F46"/>
                </a:solidFill>
                <a:latin typeface="Inter" pitchFamily="34" charset="0"/>
                <a:ea typeface="Inter" pitchFamily="34" charset="-122"/>
                <a:cs typeface="Inter" pitchFamily="34" charset="-120"/>
              </a:rPr>
              <a:t>Five landmarks are mapped onto a fixed template by a </a:t>
            </a:r>
            <a:r>
              <a:rPr lang="en-US" sz="1400" b="1" dirty="0">
                <a:solidFill>
                  <a:srgbClr val="3F3F46"/>
                </a:solidFill>
                <a:latin typeface="Inter" pitchFamily="34" charset="0"/>
                <a:ea typeface="Inter" pitchFamily="34" charset="-122"/>
                <a:cs typeface="Inter" pitchFamily="34" charset="-120"/>
              </a:rPr>
              <a:t>least-squares similarity transform</a:t>
            </a:r>
            <a:r>
              <a:rPr lang="en-US" sz="1400" dirty="0">
                <a:solidFill>
                  <a:srgbClr val="3F3F46"/>
                </a:solidFill>
                <a:latin typeface="Inter" pitchFamily="34" charset="0"/>
                <a:ea typeface="Inter" pitchFamily="34" charset="-122"/>
                <a:cs typeface="Inter" pitchFamily="34" charset="-120"/>
              </a:rPr>
              <a:t> (rotate, scale, shift): an upright 112 × 112 crop.</a:t>
            </a:r>
            <a:endParaRPr lang="en-US" sz="1400" dirty="0"/>
          </a:p>
        </p:txBody>
      </p:sp>
      <p:sp>
        <p:nvSpPr>
          <p:cNvPr id="6" name="Text 3"/>
          <p:cNvSpPr/>
          <p:nvPr/>
        </p:nvSpPr>
        <p:spPr>
          <a:xfrm>
            <a:off x="5842000" y="2103109"/>
            <a:ext cx="570331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181B"/>
                </a:solidFill>
                <a:latin typeface="Inter" pitchFamily="34" charset="0"/>
                <a:ea typeface="Inter" pitchFamily="34" charset="-122"/>
                <a:cs typeface="Inter" pitchFamily="34" charset="-120"/>
              </a:rPr>
              <a:t>Quality checks on registration photos</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854700" y="2486620"/>
          <a:ext cx="5524500" cy="1796852"/>
        </p:xfrm>
        <a:graphic>
          <a:graphicData uri="http://schemas.openxmlformats.org/drawingml/2006/table">
            <a:tbl>
              <a:tblPr/>
              <a:tblGrid>
                <a:gridCol w="1657350"/>
                <a:gridCol w="3867150"/>
              </a:tblGrid>
              <a:tr h="359370">
                <a:tc>
                  <a:txBody>
                    <a:bodyPr/>
                    <a:lstStyle/>
                    <a:p>
                      <a:pPr indent="0" marL="0">
                        <a:lnSpc>
                          <a:spcPts val="1820"/>
                        </a:lnSpc>
                        <a:buNone/>
                      </a:pPr>
                      <a:r>
                        <a:rPr lang="en-US" sz="1300" b="1" dirty="0">
                          <a:solidFill>
                            <a:srgbClr val="18181B"/>
                          </a:solidFill>
                          <a:latin typeface="Inter" pitchFamily="34" charset="0"/>
                          <a:ea typeface="Inter" pitchFamily="34" charset="-122"/>
                          <a:cs typeface="Inter" pitchFamily="34" charset="-120"/>
                        </a:rPr>
                        <a:t>Check</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indent="0" marL="0">
                        <a:lnSpc>
                          <a:spcPts val="1820"/>
                        </a:lnSpc>
                        <a:buNone/>
                      </a:pPr>
                      <a:r>
                        <a:rPr lang="en-US" sz="1300" b="1" dirty="0">
                          <a:solidFill>
                            <a:srgbClr val="18181B"/>
                          </a:solidFill>
                          <a:latin typeface="Inter" pitchFamily="34" charset="0"/>
                          <a:ea typeface="Inter" pitchFamily="34" charset="-122"/>
                          <a:cs typeface="Inter" pitchFamily="34" charset="-120"/>
                        </a:rPr>
                        <a:t>How it is measured</a:t>
                      </a:r>
                      <a:endParaRPr lang="en-US" sz="1300" dirty="0">
                        <a:latin typeface="Inter" charset="0"/>
                        <a:ea typeface="Inter" charset="0"/>
                        <a:cs typeface="Inter" charset="0"/>
                      </a:endParaRPr>
                    </a:p>
                  </a:txBody>
                  <a:tcPr marL="57785" marR="57785" marT="57785" marB="57785"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r>
              <a:tr h="359370">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Sharpness</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Variance of the Laplacian ≥ 15</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359370">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Lighting</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Mean brightness 45–215</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359370">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Size</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Face at least 120 px tall</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359370">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Head turn</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Nose offset ÷ eye distance</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bl>
          </a:graphicData>
        </a:graphic>
      </p:graphicFrame>
      <p:sp>
        <p:nvSpPr>
          <p:cNvPr id="8" name="Text 4"/>
          <p:cNvSpPr/>
          <p:nvPr/>
        </p:nvSpPr>
        <p:spPr>
          <a:xfrm>
            <a:off x="5842000" y="4410472"/>
            <a:ext cx="570331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The head-turn estimate tells “facing the camera” (under 0.15) from “turned to one side” (0.12–0.8), with no extra model.</a:t>
            </a:r>
            <a:endParaRPr lang="en-US" sz="1300" dirty="0"/>
          </a:p>
        </p:txBody>
      </p:sp>
      <p:sp>
        <p:nvSpPr>
          <p:cNvPr id="9" name="Text 5"/>
          <p:cNvSpPr/>
          <p:nvPr/>
        </p:nvSpPr>
        <p:spPr>
          <a:xfrm>
            <a:off x="812800" y="6238249"/>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10" name="Text 6"/>
          <p:cNvSpPr/>
          <p:nvPr/>
        </p:nvSpPr>
        <p:spPr>
          <a:xfrm>
            <a:off x="10058400" y="6238249"/>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TANISH · RECOGNITION</a:t>
            </a:r>
            <a:endParaRPr lang="en-US" sz="1200" dirty="0"/>
          </a:p>
        </p:txBody>
      </p:sp>
      <p:sp>
        <p:nvSpPr>
          <p:cNvPr id="3" name="Text 1"/>
          <p:cNvSpPr/>
          <p:nvPr>
            <p:ph type="title"/>
          </p:nvPr>
        </p:nvSpPr>
        <p:spPr>
          <a:xfrm>
            <a:off x="812800" y="1330954"/>
            <a:ext cx="10883392" cy="492753"/>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181B"/>
                </a:solidFill>
                <a:latin typeface="Inter" pitchFamily="34" charset="0"/>
                <a:ea typeface="Inter" pitchFamily="34" charset="-122"/>
                <a:cs typeface="Inter" pitchFamily="34" charset="-120"/>
              </a:rPr>
              <a:t>Two fixes so that the right student gets the name</a:t>
            </a:r>
            <a:endParaRPr lang="en-US" sz="3200" dirty="0"/>
          </a:p>
        </p:txBody>
      </p:sp>
      <p:sp>
        <p:nvSpPr>
          <p:cNvPr id="4" name="Shape 2"/>
          <p:cNvSpPr/>
          <p:nvPr/>
        </p:nvSpPr>
        <p:spPr>
          <a:xfrm>
            <a:off x="815975" y="2106284"/>
            <a:ext cx="5124450" cy="3732543"/>
          </a:xfrm>
          <a:prstGeom prst="roundRect">
            <a:avLst>
              <a:gd name="adj" fmla="val 3998"/>
            </a:avLst>
          </a:prstGeom>
          <a:solidFill>
            <a:srgbClr val="FFFFFF"/>
          </a:solidFill>
          <a:ln w="6350">
            <a:solidFill>
              <a:srgbClr val="E3E1DB"/>
            </a:solidFill>
            <a:prstDash val="solid"/>
          </a:ln>
        </p:spPr>
      </p:sp>
      <p:sp>
        <p:nvSpPr>
          <p:cNvPr id="5" name="Text 3"/>
          <p:cNvSpPr/>
          <p:nvPr/>
        </p:nvSpPr>
        <p:spPr>
          <a:xfrm>
            <a:off x="1123950" y="2414259"/>
            <a:ext cx="46437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8181B"/>
                </a:solidFill>
                <a:latin typeface="Inter" pitchFamily="34" charset="0"/>
                <a:ea typeface="Inter" pitchFamily="34" charset="-122"/>
                <a:cs typeface="Inter" pitchFamily="34" charset="-120"/>
              </a:rPr>
              <a:t>Degraded enrollment</a:t>
            </a:r>
            <a:endParaRPr lang="en-US" sz="2000" dirty="0"/>
          </a:p>
        </p:txBody>
      </p:sp>
      <p:sp>
        <p:nvSpPr>
          <p:cNvPr id="6" name="Text 4"/>
          <p:cNvSpPr/>
          <p:nvPr/>
        </p:nvSpPr>
        <p:spPr>
          <a:xfrm>
            <a:off x="1123950" y="2871459"/>
            <a:ext cx="4643755" cy="1056614"/>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Registration selfies are sharp; classroom faces are small and blurry. So each student is stored with 10 extra copies of every photo, made to look like a back-row face.</a:t>
            </a:r>
            <a:endParaRPr lang="en-US" sz="1400" dirty="0"/>
          </a:p>
        </p:txBody>
      </p:sp>
      <p:sp>
        <p:nvSpPr>
          <p:cNvPr id="7" name="Text 5"/>
          <p:cNvSpPr/>
          <p:nvPr/>
        </p:nvSpPr>
        <p:spPr>
          <a:xfrm>
            <a:off x="1123950" y="4055070"/>
            <a:ext cx="758660" cy="314953"/>
          </a:xfrm>
          <a:prstGeom prst="roundRect">
            <a:avLst>
              <a:gd name="adj" fmla="val 50000"/>
            </a:avLst>
          </a:prstGeom>
          <a:solidFill>
            <a:srgbClr val="18181B"/>
          </a:solidFill>
          <a:ln/>
        </p:spPr>
        <p:txBody>
          <a:bodyPr wrap="none" lIns="0" tIns="0" rIns="0" bIns="0" rtlCol="0" anchor="ctr">
            <a:normAutofit/>
          </a:bodyPr>
          <a:lstStyle/>
          <a:p>
            <a:pPr algn="ctr" indent="0" marL="0">
              <a:lnSpc>
                <a:spcPts val="1680"/>
              </a:lnSpc>
              <a:buNone/>
            </a:pPr>
            <a:r>
              <a:rPr lang="en-US" sz="1200" dirty="0">
                <a:solidFill>
                  <a:srgbClr val="F4F4F5"/>
                </a:solidFill>
                <a:latin typeface="Inter" pitchFamily="34" charset="0"/>
                <a:ea typeface="Inter" pitchFamily="34" charset="-122"/>
                <a:cs typeface="Inter" pitchFamily="34" charset="-120"/>
              </a:rPr>
              <a:t>original</a:t>
            </a:r>
            <a:endParaRPr lang="en-US" sz="1200" dirty="0"/>
          </a:p>
        </p:txBody>
      </p:sp>
      <p:sp>
        <p:nvSpPr>
          <p:cNvPr id="8" name="Text 6"/>
          <p:cNvSpPr/>
          <p:nvPr/>
        </p:nvSpPr>
        <p:spPr>
          <a:xfrm>
            <a:off x="1958810" y="4055070"/>
            <a:ext cx="1587202" cy="314953"/>
          </a:xfrm>
          <a:prstGeom prst="roundRect">
            <a:avLst>
              <a:gd name="adj" fmla="val 50000"/>
            </a:avLst>
          </a:prstGeom>
          <a:solidFill>
            <a:srgbClr val="EFEEE9"/>
          </a:solidFill>
          <a:ln/>
        </p:spPr>
        <p:txBody>
          <a:bodyPr wrap="none" lIns="0" tIns="0" rIns="0" bIns="0" rtlCol="0" anchor="ctr">
            <a:normAutofit/>
          </a:bodyPr>
          <a:lstStyle/>
          <a:p>
            <a:pPr algn="ctr" indent="0" marL="0">
              <a:lnSpc>
                <a:spcPts val="1680"/>
              </a:lnSpc>
              <a:buNone/>
            </a:pPr>
            <a:r>
              <a:rPr lang="en-US" sz="1200" dirty="0">
                <a:solidFill>
                  <a:srgbClr val="18181B"/>
                </a:solidFill>
                <a:latin typeface="Inter" pitchFamily="34" charset="0"/>
                <a:ea typeface="Inter" pitchFamily="34" charset="-122"/>
                <a:cs typeface="Inter" pitchFamily="34" charset="-120"/>
              </a:rPr>
              <a:t>shrunk to 24–48 px</a:t>
            </a:r>
            <a:endParaRPr lang="en-US" sz="1200" dirty="0"/>
          </a:p>
        </p:txBody>
      </p:sp>
      <p:sp>
        <p:nvSpPr>
          <p:cNvPr id="9" name="Text 7"/>
          <p:cNvSpPr/>
          <p:nvPr/>
        </p:nvSpPr>
        <p:spPr>
          <a:xfrm>
            <a:off x="3622212" y="4055070"/>
            <a:ext cx="745728" cy="314953"/>
          </a:xfrm>
          <a:prstGeom prst="roundRect">
            <a:avLst>
              <a:gd name="adj" fmla="val 50000"/>
            </a:avLst>
          </a:prstGeom>
          <a:solidFill>
            <a:srgbClr val="EFEEE9"/>
          </a:solidFill>
          <a:ln/>
        </p:spPr>
        <p:txBody>
          <a:bodyPr wrap="none" lIns="0" tIns="0" rIns="0" bIns="0" rtlCol="0" anchor="ctr">
            <a:normAutofit/>
          </a:bodyPr>
          <a:lstStyle/>
          <a:p>
            <a:pPr algn="ctr" indent="0" marL="0">
              <a:lnSpc>
                <a:spcPts val="1680"/>
              </a:lnSpc>
              <a:buNone/>
            </a:pPr>
            <a:r>
              <a:rPr lang="en-US" sz="1200" dirty="0">
                <a:solidFill>
                  <a:srgbClr val="18181B"/>
                </a:solidFill>
                <a:latin typeface="Inter" pitchFamily="34" charset="0"/>
                <a:ea typeface="Inter" pitchFamily="34" charset="-122"/>
                <a:cs typeface="Inter" pitchFamily="34" charset="-120"/>
              </a:rPr>
              <a:t>blurred</a:t>
            </a:r>
            <a:endParaRPr lang="en-US" sz="1200" dirty="0"/>
          </a:p>
        </p:txBody>
      </p:sp>
      <p:sp>
        <p:nvSpPr>
          <p:cNvPr id="10" name="Text 8"/>
          <p:cNvSpPr/>
          <p:nvPr/>
        </p:nvSpPr>
        <p:spPr>
          <a:xfrm>
            <a:off x="1123950" y="4446228"/>
            <a:ext cx="1401597" cy="314953"/>
          </a:xfrm>
          <a:prstGeom prst="roundRect">
            <a:avLst>
              <a:gd name="adj" fmla="val 50000"/>
            </a:avLst>
          </a:prstGeom>
          <a:solidFill>
            <a:srgbClr val="EFEEE9"/>
          </a:solidFill>
          <a:ln/>
        </p:spPr>
        <p:txBody>
          <a:bodyPr wrap="none" lIns="0" tIns="0" rIns="0" bIns="0" rtlCol="0" anchor="ctr">
            <a:normAutofit/>
          </a:bodyPr>
          <a:lstStyle/>
          <a:p>
            <a:pPr algn="ctr" indent="0" marL="0">
              <a:lnSpc>
                <a:spcPts val="1680"/>
              </a:lnSpc>
              <a:buNone/>
            </a:pPr>
            <a:r>
              <a:rPr lang="en-US" sz="1200" dirty="0">
                <a:solidFill>
                  <a:srgbClr val="18181B"/>
                </a:solidFill>
                <a:latin typeface="Inter" pitchFamily="34" charset="0"/>
                <a:ea typeface="Inter" pitchFamily="34" charset="-122"/>
                <a:cs typeface="Inter" pitchFamily="34" charset="-120"/>
              </a:rPr>
              <a:t>darker / brighter</a:t>
            </a:r>
            <a:endParaRPr lang="en-US" sz="1200" dirty="0"/>
          </a:p>
        </p:txBody>
      </p:sp>
      <p:sp>
        <p:nvSpPr>
          <p:cNvPr id="11" name="Text 9"/>
          <p:cNvSpPr/>
          <p:nvPr/>
        </p:nvSpPr>
        <p:spPr>
          <a:xfrm>
            <a:off x="2601747" y="4446228"/>
            <a:ext cx="618232" cy="314953"/>
          </a:xfrm>
          <a:prstGeom prst="roundRect">
            <a:avLst>
              <a:gd name="adj" fmla="val 50000"/>
            </a:avLst>
          </a:prstGeom>
          <a:solidFill>
            <a:srgbClr val="EFEEE9"/>
          </a:solidFill>
          <a:ln/>
        </p:spPr>
        <p:txBody>
          <a:bodyPr wrap="none" lIns="0" tIns="0" rIns="0" bIns="0" rtlCol="0" anchor="ctr">
            <a:normAutofit/>
          </a:bodyPr>
          <a:lstStyle/>
          <a:p>
            <a:pPr algn="ctr" indent="0" marL="0">
              <a:lnSpc>
                <a:spcPts val="1680"/>
              </a:lnSpc>
              <a:buNone/>
            </a:pPr>
            <a:r>
              <a:rPr lang="en-US" sz="1200" dirty="0">
                <a:solidFill>
                  <a:srgbClr val="18181B"/>
                </a:solidFill>
                <a:latin typeface="Inter" pitchFamily="34" charset="0"/>
                <a:ea typeface="Inter" pitchFamily="34" charset="-122"/>
                <a:cs typeface="Inter" pitchFamily="34" charset="-120"/>
              </a:rPr>
              <a:t>JPEG</a:t>
            </a:r>
            <a:endParaRPr lang="en-US" sz="1200" dirty="0"/>
          </a:p>
        </p:txBody>
      </p:sp>
      <p:sp>
        <p:nvSpPr>
          <p:cNvPr id="12" name="Text 10"/>
          <p:cNvSpPr/>
          <p:nvPr/>
        </p:nvSpPr>
        <p:spPr>
          <a:xfrm>
            <a:off x="3296179" y="4446228"/>
            <a:ext cx="727637" cy="314953"/>
          </a:xfrm>
          <a:prstGeom prst="roundRect">
            <a:avLst>
              <a:gd name="adj" fmla="val 50000"/>
            </a:avLst>
          </a:prstGeom>
          <a:solidFill>
            <a:srgbClr val="EFEEE9"/>
          </a:solidFill>
          <a:ln/>
        </p:spPr>
        <p:txBody>
          <a:bodyPr wrap="none" lIns="0" tIns="0" rIns="0" bIns="0" rtlCol="0" anchor="ctr">
            <a:normAutofit/>
          </a:bodyPr>
          <a:lstStyle/>
          <a:p>
            <a:pPr algn="ctr" indent="0" marL="0">
              <a:lnSpc>
                <a:spcPts val="1680"/>
              </a:lnSpc>
              <a:buNone/>
            </a:pPr>
            <a:r>
              <a:rPr lang="en-US" sz="1200" dirty="0">
                <a:solidFill>
                  <a:srgbClr val="18181B"/>
                </a:solidFill>
                <a:latin typeface="Inter" pitchFamily="34" charset="0"/>
                <a:ea typeface="Inter" pitchFamily="34" charset="-122"/>
                <a:cs typeface="Inter" pitchFamily="34" charset="-120"/>
              </a:rPr>
              <a:t>flipped</a:t>
            </a:r>
            <a:endParaRPr lang="en-US" sz="1200" dirty="0"/>
          </a:p>
        </p:txBody>
      </p:sp>
      <p:sp>
        <p:nvSpPr>
          <p:cNvPr id="13" name="Shape 11"/>
          <p:cNvSpPr/>
          <p:nvPr/>
        </p:nvSpPr>
        <p:spPr>
          <a:xfrm>
            <a:off x="6251575" y="2106284"/>
            <a:ext cx="5124450" cy="3732543"/>
          </a:xfrm>
          <a:prstGeom prst="roundRect">
            <a:avLst>
              <a:gd name="adj" fmla="val 3998"/>
            </a:avLst>
          </a:prstGeom>
          <a:solidFill>
            <a:srgbClr val="FFFFFF"/>
          </a:solidFill>
          <a:ln w="6350">
            <a:solidFill>
              <a:srgbClr val="E3E1DB"/>
            </a:solidFill>
            <a:prstDash val="solid"/>
          </a:ln>
        </p:spPr>
      </p:sp>
      <p:sp>
        <p:nvSpPr>
          <p:cNvPr id="14" name="Text 12"/>
          <p:cNvSpPr/>
          <p:nvPr/>
        </p:nvSpPr>
        <p:spPr>
          <a:xfrm>
            <a:off x="6559550" y="2414259"/>
            <a:ext cx="46437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8181B"/>
                </a:solidFill>
                <a:latin typeface="Inter" pitchFamily="34" charset="0"/>
                <a:ea typeface="Inter" pitchFamily="34" charset="-122"/>
                <a:cs typeface="Inter" pitchFamily="34" charset="-120"/>
              </a:rPr>
              <a:t>One face per student</a:t>
            </a:r>
            <a:endParaRPr lang="en-US" sz="2000" dirty="0"/>
          </a:p>
        </p:txBody>
      </p:sp>
      <p:sp>
        <p:nvSpPr>
          <p:cNvPr id="15" name="Text 13"/>
          <p:cNvSpPr/>
          <p:nvPr/>
        </p:nvSpPr>
        <p:spPr>
          <a:xfrm>
            <a:off x="6559550" y="2871459"/>
            <a:ext cx="4643755" cy="7988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Faces are named jointly with the Hungarian method: highest total similarity, each student used once, scores under 0.35 stay unknown.</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72250" y="3809969"/>
          <a:ext cx="4495800" cy="1668595"/>
        </p:xfrm>
        <a:graphic>
          <a:graphicData uri="http://schemas.openxmlformats.org/drawingml/2006/table">
            <a:tbl>
              <a:tblPr/>
              <a:tblGrid>
                <a:gridCol w="1258824"/>
                <a:gridCol w="809244"/>
                <a:gridCol w="809244"/>
                <a:gridCol w="1618488"/>
              </a:tblGrid>
              <a:tr h="359370">
                <a:tc>
                  <a:txBody>
                    <a:bodyPr/>
                    <a:lstStyle/>
                    <a:p>
                      <a:pPr indent="0" marL="0">
                        <a:lnSpc>
                          <a:spcPts val="1820"/>
                        </a:lnSpc>
                        <a:buNone/>
                      </a:pPr>
                      <a:r>
                        <a:rPr lang="en-US" sz="1300" b="1" dirty="0">
                          <a:solidFill>
                            <a:srgbClr val="18181B"/>
                          </a:solidFill>
                          <a:latin typeface="JetBrains Mono" pitchFamily="49" charset="0"/>
                          <a:ea typeface="JetBrains Mono" pitchFamily="49" charset="-122"/>
                          <a:cs typeface="JetBrains Mono" pitchFamily="49" charset="-120"/>
                        </a:rPr>
                        <a:t>score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algn="r" indent="0" marL="0">
                        <a:lnSpc>
                          <a:spcPts val="1820"/>
                        </a:lnSpc>
                        <a:buNone/>
                      </a:pPr>
                      <a:r>
                        <a:rPr lang="en-US" sz="1300" b="1" dirty="0">
                          <a:solidFill>
                            <a:srgbClr val="18181B"/>
                          </a:solidFill>
                          <a:latin typeface="JetBrains Mono" pitchFamily="49" charset="0"/>
                          <a:ea typeface="JetBrains Mono" pitchFamily="49" charset="-122"/>
                          <a:cs typeface="JetBrains Mono" pitchFamily="49" charset="-120"/>
                        </a:rPr>
                        <a:t>S1</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algn="r" indent="0" marL="0">
                        <a:lnSpc>
                          <a:spcPts val="1820"/>
                        </a:lnSpc>
                        <a:buNone/>
                      </a:pPr>
                      <a:r>
                        <a:rPr lang="en-US" sz="1300" b="1" dirty="0">
                          <a:solidFill>
                            <a:srgbClr val="18181B"/>
                          </a:solidFill>
                          <a:latin typeface="JetBrains Mono" pitchFamily="49" charset="0"/>
                          <a:ea typeface="JetBrains Mono" pitchFamily="49" charset="-122"/>
                          <a:cs typeface="JetBrains Mono" pitchFamily="49" charset="-120"/>
                        </a:rPr>
                        <a:t>S2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indent="0" marL="0">
                        <a:lnSpc>
                          <a:spcPts val="1820"/>
                        </a:lnSpc>
                        <a:buNone/>
                      </a:pPr>
                      <a:r>
                        <a:rPr lang="en-US" sz="1300" b="1" dirty="0">
                          <a:solidFill>
                            <a:srgbClr val="18181B"/>
                          </a:solidFill>
                          <a:latin typeface="JetBrains Mono" pitchFamily="49" charset="0"/>
                          <a:ea typeface="JetBrains Mono" pitchFamily="49" charset="-122"/>
                          <a:cs typeface="JetBrains Mono" pitchFamily="49" charset="-120"/>
                        </a:rPr>
                        <a:t>assigned</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r>
              <a:tr h="359370">
                <a:tc>
                  <a:txBody>
                    <a:bodyPr/>
                    <a:lstStyle/>
                    <a:p>
                      <a:pP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Face 1</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5803D"/>
                          </a:solidFill>
                          <a:latin typeface="JetBrains Mono" pitchFamily="49" charset="0"/>
                          <a:ea typeface="JetBrains Mono" pitchFamily="49" charset="-122"/>
                          <a:cs typeface="JetBrains Mono" pitchFamily="49" charset="-120"/>
                        </a:rPr>
                        <a:t>0.62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0.31</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5803D"/>
                          </a:solidFill>
                          <a:latin typeface="JetBrains Mono" pitchFamily="49" charset="0"/>
                          <a:ea typeface="JetBrains Mono" pitchFamily="49" charset="-122"/>
                          <a:cs typeface="JetBrains Mono" pitchFamily="49" charset="-120"/>
                        </a:rPr>
                        <a:t>S1</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90484">
                <a:tc>
                  <a:txBody>
                    <a:bodyPr/>
                    <a:lstStyle/>
                    <a:p>
                      <a:pP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Face 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0.41</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5803D"/>
                          </a:solidFill>
                          <a:latin typeface="JetBrains Mono" pitchFamily="49" charset="0"/>
                          <a:ea typeface="JetBrains Mono" pitchFamily="49" charset="-122"/>
                          <a:cs typeface="JetBrains Mono" pitchFamily="49" charset="-120"/>
                        </a:rPr>
                        <a:t>0.38</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5803D"/>
                          </a:solidFill>
                          <a:latin typeface="JetBrains Mono" pitchFamily="49" charset="0"/>
                          <a:ea typeface="JetBrains Mono" pitchFamily="49" charset="-122"/>
                          <a:cs typeface="JetBrains Mono" pitchFamily="49" charset="-120"/>
                        </a:rPr>
                        <a:t>S2, not S1 again</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70">
                <a:tc>
                  <a:txBody>
                    <a:bodyPr/>
                    <a:lstStyle/>
                    <a:p>
                      <a:pP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Face 3</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0.29</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0.12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5D5D66"/>
                          </a:solidFill>
                          <a:latin typeface="JetBrains Mono" pitchFamily="49" charset="0"/>
                          <a:ea typeface="JetBrains Mono" pitchFamily="49" charset="-122"/>
                          <a:cs typeface="JetBrains Mono" pitchFamily="49" charset="-120"/>
                        </a:rPr>
                        <a:t>unknown</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7" name="Text 14"/>
          <p:cNvSpPr/>
          <p:nvPr/>
        </p:nvSpPr>
        <p:spPr>
          <a:xfrm>
            <a:off x="812800" y="6238249"/>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18" name="Text 15"/>
          <p:cNvSpPr/>
          <p:nvPr/>
        </p:nvSpPr>
        <p:spPr>
          <a:xfrm>
            <a:off x="10058400" y="6238249"/>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TANISH · KNOWING WHEN IT IS UNSURE</a:t>
            </a:r>
            <a:endParaRPr lang="en-US" sz="1200" dirty="0"/>
          </a:p>
        </p:txBody>
      </p:sp>
      <p:sp>
        <p:nvSpPr>
          <p:cNvPr id="3" name="Text 1"/>
          <p:cNvSpPr/>
          <p:nvPr>
            <p:ph type="title"/>
          </p:nvPr>
        </p:nvSpPr>
        <p:spPr>
          <a:xfrm>
            <a:off x="812800" y="1330958"/>
            <a:ext cx="10883392" cy="960107"/>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181B"/>
                </a:solidFill>
                <a:latin typeface="Inter" pitchFamily="34" charset="0"/>
                <a:ea typeface="Inter" pitchFamily="34" charset="-122"/>
                <a:cs typeface="Inter" pitchFamily="34" charset="-120"/>
              </a:rPr>
              <a:t>When two students look alike, it asks the teacher instead of guessing</a:t>
            </a:r>
            <a:endParaRPr lang="en-US" sz="3200" dirty="0"/>
          </a:p>
        </p:txBody>
      </p:sp>
      <p:sp>
        <p:nvSpPr>
          <p:cNvPr id="4" name="Text 2"/>
          <p:cNvSpPr/>
          <p:nvPr/>
        </p:nvSpPr>
        <p:spPr>
          <a:xfrm>
            <a:off x="812800" y="2570460"/>
            <a:ext cx="5284724" cy="90924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3F3F46"/>
                </a:solidFill>
                <a:latin typeface="Inter" pitchFamily="34" charset="0"/>
                <a:ea typeface="Inter" pitchFamily="34" charset="-122"/>
                <a:cs typeface="Inter" pitchFamily="34" charset="-120"/>
              </a:rPr>
              <a:t>If the second-best student scored almost as high as the best (gap under </a:t>
            </a:r>
            <a:r>
              <a:rPr lang="en-US" sz="1600" b="1" dirty="0">
                <a:solidFill>
                  <a:srgbClr val="3F3F46"/>
                </a:solidFill>
                <a:latin typeface="Inter" pitchFamily="34" charset="0"/>
                <a:ea typeface="Inter" pitchFamily="34" charset="-122"/>
                <a:cs typeface="Inter" pitchFamily="34" charset="-120"/>
              </a:rPr>
              <a:t>0.06</a:t>
            </a:r>
            <a:r>
              <a:rPr lang="en-US" sz="1600" dirty="0">
                <a:solidFill>
                  <a:srgbClr val="3F3F46"/>
                </a:solidFill>
                <a:latin typeface="Inter" pitchFamily="34" charset="0"/>
                <a:ea typeface="Inter" pitchFamily="34" charset="-122"/>
                <a:cs typeface="Inter" pitchFamily="34" charset="-120"/>
              </a:rPr>
              <a:t>), the name is shown in </a:t>
            </a:r>
            <a:r>
              <a:rPr lang="en-US" sz="1600" b="1" dirty="0">
                <a:solidFill>
                  <a:srgbClr val="B45309"/>
                </a:solidFill>
                <a:latin typeface="Inter" pitchFamily="34" charset="0"/>
                <a:ea typeface="Inter" pitchFamily="34" charset="-122"/>
                <a:cs typeface="Inter" pitchFamily="34" charset="-120"/>
              </a:rPr>
              <a:t>amber with “?”</a:t>
            </a:r>
            <a:r>
              <a:rPr lang="en-US" sz="1600" dirty="0">
                <a:solidFill>
                  <a:srgbClr val="3F3F46"/>
                </a:solidFill>
                <a:latin typeface="Inter" pitchFamily="34" charset="0"/>
                <a:ea typeface="Inter" pitchFamily="34" charset="-122"/>
                <a:cs typeface="Inter" pitchFamily="34" charset="-120"/>
              </a:rPr>
              <a:t> on the review screen.</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3644801"/>
          <a:ext cx="5118100" cy="1796852"/>
        </p:xfrm>
        <a:graphic>
          <a:graphicData uri="http://schemas.openxmlformats.org/drawingml/2006/table">
            <a:tbl>
              <a:tblPr/>
              <a:tblGrid>
                <a:gridCol w="1740154"/>
                <a:gridCol w="1023620"/>
                <a:gridCol w="1023620"/>
                <a:gridCol w="1330706"/>
              </a:tblGrid>
              <a:tr h="359370">
                <a:tc>
                  <a:txBody>
                    <a:bodyPr/>
                    <a:lstStyle/>
                    <a:p>
                      <a:pPr indent="0" marL="0">
                        <a:lnSpc>
                          <a:spcPts val="1820"/>
                        </a:lnSpc>
                        <a:buNone/>
                      </a:pPr>
                      <a:r>
                        <a:rPr lang="en-US" sz="1300" b="1" dirty="0">
                          <a:solidFill>
                            <a:srgbClr val="18181B"/>
                          </a:solidFill>
                          <a:latin typeface="JetBrains Mono" pitchFamily="49" charset="0"/>
                          <a:ea typeface="JetBrains Mono" pitchFamily="49" charset="-122"/>
                          <a:cs typeface="JetBrains Mono" pitchFamily="49" charset="-120"/>
                        </a:rPr>
                        <a:t>example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algn="r" indent="0" marL="0">
                        <a:lnSpc>
                          <a:spcPts val="1820"/>
                        </a:lnSpc>
                        <a:buNone/>
                      </a:pPr>
                      <a:r>
                        <a:rPr lang="en-US" sz="1300" b="1" dirty="0">
                          <a:solidFill>
                            <a:srgbClr val="18181B"/>
                          </a:solidFill>
                          <a:latin typeface="JetBrains Mono" pitchFamily="49" charset="0"/>
                          <a:ea typeface="JetBrains Mono" pitchFamily="49" charset="-122"/>
                          <a:cs typeface="JetBrains Mono" pitchFamily="49" charset="-120"/>
                        </a:rPr>
                        <a:t>score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algn="r" indent="0" marL="0">
                        <a:lnSpc>
                          <a:spcPts val="1820"/>
                        </a:lnSpc>
                        <a:buNone/>
                      </a:pPr>
                      <a:r>
                        <a:rPr lang="en-US" sz="1300" b="1" dirty="0">
                          <a:solidFill>
                            <a:srgbClr val="18181B"/>
                          </a:solidFill>
                          <a:latin typeface="JetBrains Mono" pitchFamily="49" charset="0"/>
                          <a:ea typeface="JetBrains Mono" pitchFamily="49" charset="-122"/>
                          <a:cs typeface="JetBrains Mono" pitchFamily="49" charset="-120"/>
                        </a:rPr>
                        <a:t>gap</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indent="0" marL="0">
                        <a:lnSpc>
                          <a:spcPts val="1820"/>
                        </a:lnSpc>
                        <a:buNone/>
                      </a:pPr>
                      <a:r>
                        <a:rPr lang="en-US" sz="1300" b="1" dirty="0">
                          <a:solidFill>
                            <a:srgbClr val="18181B"/>
                          </a:solidFill>
                          <a:latin typeface="JetBrains Mono" pitchFamily="49" charset="0"/>
                          <a:ea typeface="JetBrains Mono" pitchFamily="49" charset="-122"/>
                          <a:cs typeface="JetBrains Mono" pitchFamily="49" charset="-120"/>
                        </a:rPr>
                        <a:t>shown</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r>
              <a:tr h="359370">
                <a:tc>
                  <a:txBody>
                    <a:bodyPr/>
                    <a:lstStyle/>
                    <a:p>
                      <a:pP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correct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0.38</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0.071</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15803D"/>
                          </a:solidFill>
                          <a:latin typeface="JetBrains Mono" pitchFamily="49" charset="0"/>
                          <a:ea typeface="JetBrains Mono" pitchFamily="49" charset="-122"/>
                          <a:cs typeface="JetBrains Mono" pitchFamily="49" charset="-120"/>
                        </a:rPr>
                        <a:t>green</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359370">
                <a:tc>
                  <a:txBody>
                    <a:bodyPr/>
                    <a:lstStyle/>
                    <a:p>
                      <a:pP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correct</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0.40</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0.073</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15803D"/>
                          </a:solidFill>
                          <a:latin typeface="JetBrains Mono" pitchFamily="49" charset="0"/>
                          <a:ea typeface="JetBrains Mono" pitchFamily="49" charset="-122"/>
                          <a:cs typeface="JetBrains Mono" pitchFamily="49" charset="-120"/>
                        </a:rPr>
                        <a:t>green</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359370">
                <a:tc>
                  <a:txBody>
                    <a:bodyPr/>
                    <a:lstStyle/>
                    <a:p>
                      <a:pP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wrong</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0.37</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0.054</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B45309"/>
                          </a:solidFill>
                          <a:latin typeface="JetBrains Mono" pitchFamily="49" charset="0"/>
                          <a:ea typeface="JetBrains Mono" pitchFamily="49" charset="-122"/>
                          <a:cs typeface="JetBrains Mono" pitchFamily="49" charset="-120"/>
                        </a:rPr>
                        <a:t>amber ?</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359370">
                <a:tc>
                  <a:txBody>
                    <a:bodyPr/>
                    <a:lstStyle/>
                    <a:p>
                      <a:pP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wrong</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0.36</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820"/>
                        </a:lnSpc>
                        <a:buNone/>
                      </a:pPr>
                      <a:r>
                        <a:rPr lang="en-US" sz="1300" dirty="0">
                          <a:solidFill>
                            <a:srgbClr val="18181B"/>
                          </a:solidFill>
                          <a:latin typeface="JetBrains Mono" pitchFamily="49" charset="0"/>
                          <a:ea typeface="JetBrains Mono" pitchFamily="49" charset="-122"/>
                          <a:cs typeface="JetBrains Mono" pitchFamily="49" charset="-120"/>
                        </a:rPr>
                        <a:t>0.053</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B45309"/>
                          </a:solidFill>
                          <a:latin typeface="JetBrains Mono" pitchFamily="49" charset="0"/>
                          <a:ea typeface="JetBrains Mono" pitchFamily="49" charset="-122"/>
                          <a:cs typeface="JetBrains Mono" pitchFamily="49" charset="-120"/>
                        </a:rPr>
                        <a:t>amber ?</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bl>
          </a:graphicData>
        </a:graphic>
      </p:graphicFrame>
      <p:sp>
        <p:nvSpPr>
          <p:cNvPr id="6" name="Shape 3"/>
          <p:cNvSpPr/>
          <p:nvPr/>
        </p:nvSpPr>
        <p:spPr>
          <a:xfrm>
            <a:off x="6248400" y="2570460"/>
            <a:ext cx="5130800" cy="1396537"/>
          </a:xfrm>
          <a:prstGeom prst="roundRect">
            <a:avLst>
              <a:gd name="adj" fmla="val 10913"/>
            </a:avLst>
          </a:prstGeom>
          <a:solidFill>
            <a:srgbClr val="141416"/>
          </a:solidFill>
          <a:ln/>
        </p:spPr>
      </p:sp>
      <p:sp>
        <p:nvSpPr>
          <p:cNvPr id="7" name="Text 4"/>
          <p:cNvSpPr/>
          <p:nvPr/>
        </p:nvSpPr>
        <p:spPr>
          <a:xfrm>
            <a:off x="6527800" y="2849860"/>
            <a:ext cx="4709160" cy="524768"/>
          </a:xfrm>
          <a:prstGeom prst="rect">
            <a:avLst/>
          </a:prstGeom>
          <a:noFill/>
          <a:ln/>
        </p:spPr>
        <p:txBody>
          <a:bodyPr wrap="square" lIns="0" tIns="0" rIns="0" bIns="0" rtlCol="0" anchor="t">
            <a:normAutofit/>
          </a:bodyPr>
          <a:lstStyle/>
          <a:p>
            <a:pPr algn="l" indent="0" marL="0">
              <a:lnSpc>
                <a:spcPts val="3963"/>
              </a:lnSpc>
              <a:buNone/>
            </a:pPr>
            <a:r>
              <a:rPr lang="en-US" sz="3963" b="1" dirty="0">
                <a:solidFill>
                  <a:srgbClr val="FBBF24"/>
                </a:solidFill>
                <a:latin typeface="JetBrains Mono" pitchFamily="49" charset="0"/>
                <a:ea typeface="JetBrains Mono" pitchFamily="49" charset="-122"/>
                <a:cs typeface="JetBrains Mono" pitchFamily="49" charset="-120"/>
              </a:rPr>
              <a:t>2 of 2</a:t>
            </a:r>
            <a:endParaRPr lang="en-US" sz="3963" dirty="0"/>
          </a:p>
        </p:txBody>
      </p:sp>
      <p:sp>
        <p:nvSpPr>
          <p:cNvPr id="8" name="Text 5"/>
          <p:cNvSpPr/>
          <p:nvPr/>
        </p:nvSpPr>
        <p:spPr>
          <a:xfrm>
            <a:off x="6527800" y="3425428"/>
            <a:ext cx="4709160" cy="287569"/>
          </a:xfrm>
          <a:prstGeom prst="rect">
            <a:avLst/>
          </a:prstGeom>
          <a:noFill/>
          <a:ln/>
        </p:spPr>
        <p:txBody>
          <a:bodyPr wrap="square" lIns="0" tIns="0" rIns="0" bIns="0" rtlCol="0" anchor="t">
            <a:normAutofit/>
          </a:bodyPr>
          <a:lstStyle/>
          <a:p>
            <a:pPr algn="l" indent="0" marL="0">
              <a:lnSpc>
                <a:spcPts val="2074"/>
              </a:lnSpc>
              <a:buNone/>
            </a:pPr>
            <a:r>
              <a:rPr lang="en-US" sz="1481" dirty="0">
                <a:solidFill>
                  <a:srgbClr val="F4F4F5"/>
                </a:solidFill>
                <a:latin typeface="Inter" pitchFamily="34" charset="0"/>
                <a:ea typeface="Inter" pitchFamily="34" charset="-122"/>
                <a:cs typeface="Inter" pitchFamily="34" charset="-120"/>
              </a:rPr>
              <a:t>borderline mistakes flagged for review</a:t>
            </a:r>
            <a:endParaRPr lang="en-US" sz="1481" dirty="0"/>
          </a:p>
        </p:txBody>
      </p:sp>
      <p:sp>
        <p:nvSpPr>
          <p:cNvPr id="9" name="Shape 6"/>
          <p:cNvSpPr/>
          <p:nvPr/>
        </p:nvSpPr>
        <p:spPr>
          <a:xfrm>
            <a:off x="6251575" y="4173376"/>
            <a:ext cx="5124450" cy="1665453"/>
          </a:xfrm>
          <a:prstGeom prst="roundRect">
            <a:avLst>
              <a:gd name="adj" fmla="val 8960"/>
            </a:avLst>
          </a:prstGeom>
          <a:solidFill>
            <a:srgbClr val="FFFFFF"/>
          </a:solidFill>
          <a:ln w="6350">
            <a:solidFill>
              <a:srgbClr val="E3E1DB"/>
            </a:solidFill>
            <a:prstDash val="solid"/>
          </a:ln>
        </p:spPr>
      </p:sp>
      <p:sp>
        <p:nvSpPr>
          <p:cNvPr id="10" name="Text 7"/>
          <p:cNvSpPr/>
          <p:nvPr/>
        </p:nvSpPr>
        <p:spPr>
          <a:xfrm>
            <a:off x="6534150" y="4455951"/>
            <a:ext cx="4696079" cy="524966"/>
          </a:xfrm>
          <a:prstGeom prst="rect">
            <a:avLst/>
          </a:prstGeom>
          <a:noFill/>
          <a:ln/>
        </p:spPr>
        <p:txBody>
          <a:bodyPr wrap="square" lIns="0" tIns="0" rIns="0" bIns="0" rtlCol="0" anchor="t">
            <a:normAutofit/>
          </a:bodyPr>
          <a:lstStyle/>
          <a:p>
            <a:pPr algn="l" indent="0" marL="0">
              <a:lnSpc>
                <a:spcPts val="3963"/>
              </a:lnSpc>
              <a:buNone/>
            </a:pPr>
            <a:r>
              <a:rPr lang="en-US" sz="3963" b="1" dirty="0">
                <a:solidFill>
                  <a:srgbClr val="18181B"/>
                </a:solidFill>
                <a:latin typeface="JetBrains Mono" pitchFamily="49" charset="0"/>
                <a:ea typeface="JetBrains Mono" pitchFamily="49" charset="-122"/>
                <a:cs typeface="JetBrains Mono" pitchFamily="49" charset="-120"/>
              </a:rPr>
              <a:t>2 of 115</a:t>
            </a:r>
            <a:endParaRPr lang="en-US" sz="3963" dirty="0"/>
          </a:p>
        </p:txBody>
      </p:sp>
      <p:sp>
        <p:nvSpPr>
          <p:cNvPr id="11" name="Text 8"/>
          <p:cNvSpPr/>
          <p:nvPr/>
        </p:nvSpPr>
        <p:spPr>
          <a:xfrm>
            <a:off x="6534150" y="5031718"/>
            <a:ext cx="4696079" cy="549936"/>
          </a:xfrm>
          <a:prstGeom prst="rect">
            <a:avLst/>
          </a:prstGeom>
          <a:noFill/>
          <a:ln/>
        </p:spPr>
        <p:txBody>
          <a:bodyPr wrap="square" lIns="0" tIns="0" rIns="0" bIns="0" rtlCol="0" anchor="t">
            <a:normAutofit/>
          </a:bodyPr>
          <a:lstStyle/>
          <a:p>
            <a:pPr algn="l" indent="0" marL="0">
              <a:lnSpc>
                <a:spcPts val="2087"/>
              </a:lnSpc>
              <a:buNone/>
            </a:pPr>
            <a:r>
              <a:rPr lang="en-US" sz="1491" dirty="0">
                <a:solidFill>
                  <a:srgbClr val="5D5D66"/>
                </a:solidFill>
                <a:latin typeface="Inter" pitchFamily="34" charset="0"/>
                <a:ea typeface="Inter" pitchFamily="34" charset="-122"/>
                <a:cs typeface="Inter" pitchFamily="34" charset="-120"/>
              </a:rPr>
              <a:t>correct names flagged unnecessarily (a plain score cut-off flagged 6)</a:t>
            </a:r>
            <a:endParaRPr lang="en-US" sz="1491" dirty="0"/>
          </a:p>
        </p:txBody>
      </p:sp>
      <p:sp>
        <p:nvSpPr>
          <p:cNvPr id="12" name="Text 9"/>
          <p:cNvSpPr/>
          <p:nvPr/>
        </p:nvSpPr>
        <p:spPr>
          <a:xfrm>
            <a:off x="812800" y="6238249"/>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13" name="Text 10"/>
          <p:cNvSpPr/>
          <p:nvPr/>
        </p:nvSpPr>
        <p:spPr>
          <a:xfrm>
            <a:off x="10058400" y="6238249"/>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UTKARSH · HOW WE MEASURED</a:t>
            </a:r>
            <a:endParaRPr lang="en-US" sz="1200" dirty="0"/>
          </a:p>
        </p:txBody>
      </p:sp>
      <p:sp>
        <p:nvSpPr>
          <p:cNvPr id="3" name="Text 1"/>
          <p:cNvSpPr/>
          <p:nvPr>
            <p:ph type="title"/>
          </p:nvPr>
        </p:nvSpPr>
        <p:spPr>
          <a:xfrm>
            <a:off x="812800" y="1305558"/>
            <a:ext cx="10883392" cy="492753"/>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181B"/>
                </a:solidFill>
                <a:latin typeface="Inter" pitchFamily="34" charset="0"/>
                <a:ea typeface="Inter" pitchFamily="34" charset="-122"/>
                <a:cs typeface="Inter" pitchFamily="34" charset="-120"/>
              </a:rPr>
              <a:t>Four datasets, one honest test protocol</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65009"/>
          <a:ext cx="10553700" cy="1796852"/>
        </p:xfrm>
        <a:graphic>
          <a:graphicData uri="http://schemas.openxmlformats.org/drawingml/2006/table">
            <a:tbl>
              <a:tblPr/>
              <a:tblGrid>
                <a:gridCol w="2532888"/>
                <a:gridCol w="4432554"/>
                <a:gridCol w="3588258"/>
              </a:tblGrid>
              <a:tr h="359370">
                <a:tc>
                  <a:txBody>
                    <a:bodyPr/>
                    <a:lstStyle/>
                    <a:p>
                      <a:pPr indent="0" marL="0">
                        <a:lnSpc>
                          <a:spcPts val="1820"/>
                        </a:lnSpc>
                        <a:buNone/>
                      </a:pPr>
                      <a:r>
                        <a:rPr lang="en-US" sz="1300" b="1" dirty="0">
                          <a:solidFill>
                            <a:srgbClr val="18181B"/>
                          </a:solidFill>
                          <a:latin typeface="Inter" pitchFamily="34" charset="0"/>
                          <a:ea typeface="Inter" pitchFamily="34" charset="-122"/>
                          <a:cs typeface="Inter" pitchFamily="34" charset="-120"/>
                        </a:rPr>
                        <a:t>Dataset</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indent="0" marL="0">
                        <a:lnSpc>
                          <a:spcPts val="1820"/>
                        </a:lnSpc>
                        <a:buNone/>
                      </a:pPr>
                      <a:r>
                        <a:rPr lang="en-US" sz="1300" b="1" dirty="0">
                          <a:solidFill>
                            <a:srgbClr val="18181B"/>
                          </a:solidFill>
                          <a:latin typeface="Inter" pitchFamily="34" charset="0"/>
                          <a:ea typeface="Inter" pitchFamily="34" charset="-122"/>
                          <a:cs typeface="Inter" pitchFamily="34" charset="-120"/>
                        </a:rPr>
                        <a:t>What it contains</a:t>
                      </a:r>
                      <a:endParaRPr lang="en-US" sz="1300" dirty="0">
                        <a:latin typeface="Inter" charset="0"/>
                        <a:ea typeface="Inter" charset="0"/>
                        <a:cs typeface="Inter" charset="0"/>
                      </a:endParaRPr>
                    </a:p>
                  </a:txBody>
                  <a:tcPr marL="57785" marR="57785" marT="57785" marB="57785"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indent="0" marL="0">
                        <a:lnSpc>
                          <a:spcPts val="1820"/>
                        </a:lnSpc>
                        <a:buNone/>
                      </a:pPr>
                      <a:r>
                        <a:rPr lang="en-US" sz="1300" b="1" dirty="0">
                          <a:solidFill>
                            <a:srgbClr val="18181B"/>
                          </a:solidFill>
                          <a:latin typeface="Inter" pitchFamily="34" charset="0"/>
                          <a:ea typeface="Inter" pitchFamily="34" charset="-122"/>
                          <a:cs typeface="Inter" pitchFamily="34" charset="-120"/>
                        </a:rPr>
                        <a:t>What it tests</a:t>
                      </a:r>
                      <a:endParaRPr lang="en-US" sz="1300" dirty="0">
                        <a:latin typeface="Inter" charset="0"/>
                        <a:ea typeface="Inter" charset="0"/>
                        <a:cs typeface="Inter" charset="0"/>
                      </a:endParaRPr>
                    </a:p>
                  </a:txBody>
                  <a:tcPr marL="57785" marR="57785" marT="57785" marB="57785"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r>
              <a:tr h="359370">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LFW</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13,233 web photos of 5,749 people</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Clear faces; calibration training</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359370">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TinyFace</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169k natively tiny faces, about 20 × 16 px</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Rejecting strangers on tiny faces</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359370">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ICFD (IIT Madras)</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Indian students filmed in real classrooms</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Indian faces without retraining</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359370">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Our class</a:t>
                      </a:r>
                      <a:endParaRPr lang="en-US" sz="1300" dirty="0">
                        <a:latin typeface="Inter" charset="0"/>
                        <a:ea typeface="Inter" charset="0"/>
                        <a:cs typeface="Inter" charset="0"/>
                      </a:endParaRPr>
                    </a:p>
                  </a:txBody>
                  <a:tcPr marL="57785" marR="57785" marT="57785" marB="57785" anchor="t">
                    <a:lnL w="12700" cap="flat" cmpd="sng" algn="ctr">
                      <a:solidFill>
                        <a:srgbClr val="C5C4C2"/>
                      </a:solidFill>
                      <a:prstDash val="solid"/>
                      <a:round/>
                      <a:headEnd type="none" w="med" len="med"/>
                      <a:tailEnd type="none" w="med" len="med"/>
                    </a:lnL>
                    <a:lnR w="12700" cap="flat" cmpd="sng" algn="ctr">
                      <a:solidFill>
                        <a:srgbClr val="B0C9B8"/>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0C9B8"/>
                      </a:solidFill>
                      <a:prstDash val="solid"/>
                      <a:round/>
                      <a:headEnd type="none" w="med" len="med"/>
                      <a:tailEnd type="none" w="med" len="med"/>
                    </a:lnB>
                    <a:solidFill>
                      <a:srgbClr val="DCFCE7"/>
                    </a:solidFill>
                  </a:tcPr>
                </a:tc>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10 photos, 804 faces we labelled, 15 enrolled</a:t>
                      </a:r>
                      <a:endParaRPr lang="en-US" sz="1300" dirty="0">
                        <a:latin typeface="Inter" charset="0"/>
                        <a:ea typeface="Inter" charset="0"/>
                        <a:cs typeface="Inter" charset="0"/>
                      </a:endParaRPr>
                    </a:p>
                  </a:txBody>
                  <a:tcPr marL="57785" marR="57785" marT="57785" marB="57785" anchor="t">
                    <a:lnL w="12700" cap="flat" cmpd="sng" algn="ctr">
                      <a:solidFill>
                        <a:srgbClr val="B0C9B8"/>
                      </a:solidFill>
                      <a:prstDash val="solid"/>
                      <a:round/>
                      <a:headEnd type="none" w="med" len="med"/>
                      <a:tailEnd type="none" w="med" len="med"/>
                    </a:lnL>
                    <a:lnR w="12700" cap="flat" cmpd="sng" algn="ctr">
                      <a:solidFill>
                        <a:srgbClr val="B0C9B8"/>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0C9B8"/>
                      </a:solidFill>
                      <a:prstDash val="solid"/>
                      <a:round/>
                      <a:headEnd type="none" w="med" len="med"/>
                      <a:tailEnd type="none" w="med" len="med"/>
                    </a:lnB>
                    <a:solidFill>
                      <a:srgbClr val="DCFCE7"/>
                    </a:solidFill>
                  </a:tcPr>
                </a:tc>
                <a:tc>
                  <a:txBody>
                    <a:bodyPr/>
                    <a:lstStyle/>
                    <a:p>
                      <a:pPr indent="0" marL="0">
                        <a:lnSpc>
                          <a:spcPts val="1820"/>
                        </a:lnSpc>
                        <a:buNone/>
                      </a:pPr>
                      <a:r>
                        <a:rPr lang="en-US" sz="1300" dirty="0">
                          <a:solidFill>
                            <a:srgbClr val="18181B"/>
                          </a:solidFill>
                          <a:latin typeface="Inter" pitchFamily="34" charset="0"/>
                          <a:ea typeface="Inter" pitchFamily="34" charset="-122"/>
                          <a:cs typeface="Inter" pitchFamily="34" charset="-120"/>
                        </a:rPr>
                        <a:t>The real task, end to end</a:t>
                      </a:r>
                      <a:endParaRPr lang="en-US" sz="1300" dirty="0">
                        <a:latin typeface="Inter" charset="0"/>
                        <a:ea typeface="Inter" charset="0"/>
                        <a:cs typeface="Inter" charset="0"/>
                      </a:endParaRPr>
                    </a:p>
                  </a:txBody>
                  <a:tcPr marL="57785" marR="57785" marT="57785" marB="57785" anchor="t">
                    <a:lnL w="12700" cap="flat" cmpd="sng" algn="ctr">
                      <a:solidFill>
                        <a:srgbClr val="B0C9B8"/>
                      </a:solidFill>
                      <a:prstDash val="solid"/>
                      <a:round/>
                      <a:headEnd type="none" w="med" len="med"/>
                      <a:tailEnd type="none" w="med" len="med"/>
                    </a:lnL>
                    <a:lnR w="12700" cap="flat" cmpd="sng" algn="ctr">
                      <a:solidFill>
                        <a:srgbClr val="B0C9B8"/>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0C9B8"/>
                      </a:solidFill>
                      <a:prstDash val="solid"/>
                      <a:round/>
                      <a:headEnd type="none" w="med" len="med"/>
                      <a:tailEnd type="none" w="med" len="med"/>
                    </a:lnB>
                    <a:solidFill>
                      <a:srgbClr val="DCFCE7"/>
                    </a:solidFill>
                  </a:tcPr>
                </a:tc>
              </a:tr>
            </a:tbl>
          </a:graphicData>
        </a:graphic>
      </p:graphicFrame>
      <p:sp>
        <p:nvSpPr>
          <p:cNvPr id="5" name="Shape 2"/>
          <p:cNvSpPr/>
          <p:nvPr/>
        </p:nvSpPr>
        <p:spPr>
          <a:xfrm>
            <a:off x="812800" y="4153960"/>
            <a:ext cx="3386667" cy="0"/>
          </a:xfrm>
          <a:prstGeom prst="line">
            <a:avLst/>
          </a:prstGeom>
          <a:noFill/>
          <a:ln w="25400">
            <a:solidFill>
              <a:srgbClr val="18181B"/>
            </a:solidFill>
            <a:prstDash val="solid"/>
          </a:ln>
        </p:spPr>
      </p:sp>
      <p:sp>
        <p:nvSpPr>
          <p:cNvPr id="6" name="Text 3"/>
          <p:cNvSpPr/>
          <p:nvPr/>
        </p:nvSpPr>
        <p:spPr>
          <a:xfrm>
            <a:off x="812800" y="4319060"/>
            <a:ext cx="34882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181B"/>
                </a:solidFill>
                <a:latin typeface="Inter" pitchFamily="34" charset="0"/>
                <a:ea typeface="Inter" pitchFamily="34" charset="-122"/>
                <a:cs typeface="Inter" pitchFamily="34" charset="-120"/>
              </a:rPr>
              <a:t>Leave one photo out</a:t>
            </a:r>
            <a:endParaRPr lang="en-US" sz="1500" dirty="0"/>
          </a:p>
        </p:txBody>
      </p:sp>
      <p:sp>
        <p:nvSpPr>
          <p:cNvPr id="7" name="Text 4"/>
          <p:cNvSpPr/>
          <p:nvPr/>
        </p:nvSpPr>
        <p:spPr>
          <a:xfrm>
            <a:off x="812800" y="4611160"/>
            <a:ext cx="3488267"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The cut-off is tuned on 9 photos and tested on the 10th, never on the photo being scored.</a:t>
            </a:r>
            <a:endParaRPr lang="en-US" sz="1300" dirty="0"/>
          </a:p>
        </p:txBody>
      </p:sp>
      <p:sp>
        <p:nvSpPr>
          <p:cNvPr id="8" name="Shape 5"/>
          <p:cNvSpPr/>
          <p:nvPr/>
        </p:nvSpPr>
        <p:spPr>
          <a:xfrm>
            <a:off x="4402667" y="4153960"/>
            <a:ext cx="3386667" cy="0"/>
          </a:xfrm>
          <a:prstGeom prst="line">
            <a:avLst/>
          </a:prstGeom>
          <a:noFill/>
          <a:ln w="25400">
            <a:solidFill>
              <a:srgbClr val="18181B"/>
            </a:solidFill>
            <a:prstDash val="solid"/>
          </a:ln>
        </p:spPr>
      </p:sp>
      <p:sp>
        <p:nvSpPr>
          <p:cNvPr id="9" name="Text 6"/>
          <p:cNvSpPr/>
          <p:nvPr/>
        </p:nvSpPr>
        <p:spPr>
          <a:xfrm>
            <a:off x="4402667" y="4319060"/>
            <a:ext cx="34882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181B"/>
                </a:solidFill>
                <a:latin typeface="Inter" pitchFamily="34" charset="0"/>
                <a:ea typeface="Inter" pitchFamily="34" charset="-122"/>
                <a:cs typeface="Inter" pitchFamily="34" charset="-120"/>
              </a:rPr>
              <a:t>Metrics that matter</a:t>
            </a:r>
            <a:endParaRPr lang="en-US" sz="1500" dirty="0"/>
          </a:p>
        </p:txBody>
      </p:sp>
      <p:sp>
        <p:nvSpPr>
          <p:cNvPr id="10" name="Text 7"/>
          <p:cNvSpPr/>
          <p:nvPr/>
        </p:nvSpPr>
        <p:spPr>
          <a:xfrm>
            <a:off x="4402667" y="4611160"/>
            <a:ext cx="348826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Attendance F1, students named correctly, and strangers wrongly named.</a:t>
            </a:r>
            <a:endParaRPr lang="en-US" sz="1300" dirty="0"/>
          </a:p>
        </p:txBody>
      </p:sp>
      <p:sp>
        <p:nvSpPr>
          <p:cNvPr id="11" name="Shape 8"/>
          <p:cNvSpPr/>
          <p:nvPr/>
        </p:nvSpPr>
        <p:spPr>
          <a:xfrm>
            <a:off x="7992534" y="4153960"/>
            <a:ext cx="3386667" cy="0"/>
          </a:xfrm>
          <a:prstGeom prst="line">
            <a:avLst/>
          </a:prstGeom>
          <a:noFill/>
          <a:ln w="25400">
            <a:solidFill>
              <a:srgbClr val="18181B"/>
            </a:solidFill>
            <a:prstDash val="solid"/>
          </a:ln>
        </p:spPr>
      </p:sp>
      <p:sp>
        <p:nvSpPr>
          <p:cNvPr id="12" name="Text 9"/>
          <p:cNvSpPr/>
          <p:nvPr/>
        </p:nvSpPr>
        <p:spPr>
          <a:xfrm>
            <a:off x="7992534" y="4319060"/>
            <a:ext cx="34882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181B"/>
                </a:solidFill>
                <a:latin typeface="Inter" pitchFamily="34" charset="0"/>
                <a:ea typeface="Inter" pitchFamily="34" charset="-122"/>
                <a:cs typeface="Inter" pitchFamily="34" charset="-120"/>
              </a:rPr>
              <a:t>Error bars</a:t>
            </a:r>
            <a:endParaRPr lang="en-US" sz="1500" dirty="0"/>
          </a:p>
        </p:txBody>
      </p:sp>
      <p:sp>
        <p:nvSpPr>
          <p:cNvPr id="13" name="Text 10"/>
          <p:cNvSpPr/>
          <p:nvPr/>
        </p:nvSpPr>
        <p:spPr>
          <a:xfrm>
            <a:off x="7992534" y="4611160"/>
            <a:ext cx="348826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95 % intervals from 2,000 bootstrap resamples of the photos.</a:t>
            </a:r>
            <a:endParaRPr lang="en-US" sz="1300" dirty="0"/>
          </a:p>
        </p:txBody>
      </p:sp>
      <p:sp>
        <p:nvSpPr>
          <p:cNvPr id="14" name="Text 11"/>
          <p:cNvSpPr/>
          <p:nvPr/>
        </p:nvSpPr>
        <p:spPr>
          <a:xfrm>
            <a:off x="812800" y="6238249"/>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15" name="Text 12"/>
          <p:cNvSpPr/>
          <p:nvPr/>
        </p:nvSpPr>
        <p:spPr>
          <a:xfrm>
            <a:off x="10058400" y="6238249"/>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UTKARSH · PUBLIC BENCHMARKS</a:t>
            </a:r>
            <a:endParaRPr lang="en-US" sz="1200" dirty="0"/>
          </a:p>
        </p:txBody>
      </p:sp>
      <p:sp>
        <p:nvSpPr>
          <p:cNvPr id="3" name="Text 1"/>
          <p:cNvSpPr/>
          <p:nvPr>
            <p:ph type="title"/>
          </p:nvPr>
        </p:nvSpPr>
        <p:spPr>
          <a:xfrm>
            <a:off x="812800" y="1305558"/>
            <a:ext cx="10883392" cy="960107"/>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181B"/>
                </a:solidFill>
                <a:latin typeface="Inter" pitchFamily="34" charset="0"/>
                <a:ea typeface="Inter" pitchFamily="34" charset="-122"/>
                <a:cs typeface="Inter" pitchFamily="34" charset="-120"/>
              </a:rPr>
              <a:t>Near-perfect on clear faces, much harder on tiny ones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532360"/>
          <a:ext cx="10553700" cy="1930135"/>
        </p:xfrm>
        <a:graphic>
          <a:graphicData uri="http://schemas.openxmlformats.org/drawingml/2006/table">
            <a:tbl>
              <a:tblPr/>
              <a:tblGrid>
                <a:gridCol w="2955036"/>
                <a:gridCol w="1899666"/>
                <a:gridCol w="1899666"/>
                <a:gridCol w="1899666"/>
                <a:gridCol w="1899666"/>
              </a:tblGrid>
              <a:tr h="386027">
                <a:tc>
                  <a:txBody>
                    <a:bodyPr/>
                    <a:lstStyle/>
                    <a:p>
                      <a:pPr indent="0" marL="0">
                        <a:lnSpc>
                          <a:spcPts val="1960"/>
                        </a:lnSpc>
                        <a:buNone/>
                      </a:pPr>
                      <a:r>
                        <a:rPr lang="en-US" sz="1400" b="1" dirty="0">
                          <a:solidFill>
                            <a:srgbClr val="18181B"/>
                          </a:solidFill>
                          <a:latin typeface="Inter" pitchFamily="34" charset="0"/>
                          <a:ea typeface="Inter" pitchFamily="34" charset="-122"/>
                          <a:cs typeface="Inter" pitchFamily="34" charset="-120"/>
                        </a:rPr>
                        <a:t>Face model</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algn="r" indent="0" marL="0">
                        <a:lnSpc>
                          <a:spcPts val="1960"/>
                        </a:lnSpc>
                        <a:buNone/>
                      </a:pPr>
                      <a:r>
                        <a:rPr lang="en-US" sz="1400" b="1" dirty="0">
                          <a:solidFill>
                            <a:srgbClr val="18181B"/>
                          </a:solidFill>
                          <a:latin typeface="Inter" pitchFamily="34" charset="0"/>
                          <a:ea typeface="Inter" pitchFamily="34" charset="-122"/>
                          <a:cs typeface="Inter" pitchFamily="34" charset="-120"/>
                        </a:rPr>
                        <a:t>LFW</a:t>
                      </a:r>
                      <a:endParaRPr lang="en-US" sz="1400" dirty="0">
                        <a:latin typeface="Inter" charset="0"/>
                        <a:ea typeface="Inter" charset="0"/>
                        <a:cs typeface="Inter" charset="0"/>
                      </a:endParaRPr>
                    </a:p>
                  </a:txBody>
                  <a:tcPr marL="62230" marR="62230" marT="62230" marB="62230"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algn="r" indent="0" marL="0">
                        <a:lnSpc>
                          <a:spcPts val="1960"/>
                        </a:lnSpc>
                        <a:buNone/>
                      </a:pPr>
                      <a:r>
                        <a:rPr lang="en-US" sz="1400" b="1" dirty="0">
                          <a:solidFill>
                            <a:srgbClr val="18181B"/>
                          </a:solidFill>
                          <a:latin typeface="Inter" pitchFamily="34" charset="0"/>
                          <a:ea typeface="Inter" pitchFamily="34" charset="-122"/>
                          <a:cs typeface="Inter" pitchFamily="34" charset="-120"/>
                        </a:rPr>
                        <a:t>TinyFace</a:t>
                      </a:r>
                      <a:endParaRPr lang="en-US" sz="1400" dirty="0">
                        <a:latin typeface="Inter" charset="0"/>
                        <a:ea typeface="Inter" charset="0"/>
                        <a:cs typeface="Inter" charset="0"/>
                      </a:endParaRPr>
                    </a:p>
                  </a:txBody>
                  <a:tcPr marL="62230" marR="62230" marT="62230" marB="62230"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algn="r" indent="0" marL="0">
                        <a:lnSpc>
                          <a:spcPts val="1960"/>
                        </a:lnSpc>
                        <a:buNone/>
                      </a:pPr>
                      <a:r>
                        <a:rPr lang="en-US" sz="1400" b="1" dirty="0">
                          <a:solidFill>
                            <a:srgbClr val="18181B"/>
                          </a:solidFill>
                          <a:latin typeface="Inter" pitchFamily="34" charset="0"/>
                          <a:ea typeface="Inter" pitchFamily="34" charset="-122"/>
                          <a:cs typeface="Inter" pitchFamily="34" charset="-120"/>
                        </a:rPr>
                        <a:t>TinyFace open-set</a:t>
                      </a:r>
                      <a:endParaRPr lang="en-US" sz="1400" dirty="0">
                        <a:latin typeface="Inter" charset="0"/>
                        <a:ea typeface="Inter" charset="0"/>
                        <a:cs typeface="Inter" charset="0"/>
                      </a:endParaRPr>
                    </a:p>
                  </a:txBody>
                  <a:tcPr marL="62230" marR="62230" marT="62230" marB="62230"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c>
                  <a:txBody>
                    <a:bodyPr/>
                    <a:lstStyle/>
                    <a:p>
                      <a:pPr algn="r" indent="0" marL="0">
                        <a:lnSpc>
                          <a:spcPts val="1960"/>
                        </a:lnSpc>
                        <a:buNone/>
                      </a:pPr>
                      <a:r>
                        <a:rPr lang="en-US" sz="1400" b="1" dirty="0">
                          <a:solidFill>
                            <a:srgbClr val="18181B"/>
                          </a:solidFill>
                          <a:latin typeface="Inter" pitchFamily="34" charset="0"/>
                          <a:ea typeface="Inter" pitchFamily="34" charset="-122"/>
                          <a:cs typeface="Inter" pitchFamily="34" charset="-120"/>
                        </a:rPr>
                        <a:t>Indian classroom</a:t>
                      </a:r>
                      <a:endParaRPr lang="en-US" sz="1400" dirty="0">
                        <a:latin typeface="Inter" charset="0"/>
                        <a:ea typeface="Inter" charset="0"/>
                        <a:cs typeface="Inter" charset="0"/>
                      </a:endParaRPr>
                    </a:p>
                  </a:txBody>
                  <a:tcPr marL="62230" marR="62230" marT="62230" marB="62230" anchor="t">
                    <a:lnL w="12700" cap="flat" cmpd="sng" algn="ctr">
                      <a:solidFill>
                        <a:srgbClr val="BFBEBA"/>
                      </a:solidFill>
                      <a:prstDash val="solid"/>
                      <a:round/>
                      <a:headEnd type="none" w="med" len="med"/>
                      <a:tailEnd type="none" w="med" len="med"/>
                    </a:lnL>
                    <a:lnR w="12700" cap="flat" cmpd="sng" algn="ctr">
                      <a:solidFill>
                        <a:srgbClr val="BFBEBA"/>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BFBEBA"/>
                      </a:solidFill>
                      <a:prstDash val="solid"/>
                      <a:round/>
                      <a:headEnd type="none" w="med" len="med"/>
                      <a:tailEnd type="none" w="med" len="med"/>
                    </a:lnB>
                    <a:solidFill>
                      <a:srgbClr val="EFEEE9"/>
                    </a:solidFill>
                  </a:tcPr>
                </a:tc>
              </a:tr>
              <a:tr h="386027">
                <a:tc>
                  <a:txBody>
                    <a:bodyPr/>
                    <a:lstStyle/>
                    <a:p>
                      <a:pPr indent="0" marL="0">
                        <a:lnSpc>
                          <a:spcPts val="1960"/>
                        </a:lnSpc>
                        <a:buNone/>
                      </a:pPr>
                      <a:r>
                        <a:rPr lang="en-US" sz="1400" dirty="0">
                          <a:solidFill>
                            <a:srgbClr val="18181B"/>
                          </a:solidFill>
                          <a:latin typeface="Inter" pitchFamily="34" charset="0"/>
                          <a:ea typeface="Inter" pitchFamily="34" charset="-122"/>
                          <a:cs typeface="Inter" pitchFamily="34" charset="-120"/>
                        </a:rPr>
                        <a:t>ArcFace ResNet-50 (used)</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99.8 %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43.3 %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15.0 %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98.5 %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BFBEBA"/>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386027">
                <a:tc>
                  <a:txBody>
                    <a:bodyPr/>
                    <a:lstStyle/>
                    <a:p>
                      <a:pPr indent="0" marL="0">
                        <a:lnSpc>
                          <a:spcPts val="1960"/>
                        </a:lnSpc>
                        <a:buNone/>
                      </a:pPr>
                      <a:r>
                        <a:rPr lang="en-US" sz="1400" dirty="0">
                          <a:solidFill>
                            <a:srgbClr val="18181B"/>
                          </a:solidFill>
                          <a:latin typeface="Inter" pitchFamily="34" charset="0"/>
                          <a:ea typeface="Inter" pitchFamily="34" charset="-122"/>
                          <a:cs typeface="Inter" pitchFamily="34" charset="-120"/>
                        </a:rPr>
                        <a:t>ArcFace MobileFaceNet</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99.5 %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36.9 %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21.0 %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98.0 %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386027">
                <a:tc>
                  <a:txBody>
                    <a:bodyPr/>
                    <a:lstStyle/>
                    <a:p>
                      <a:pPr indent="0" marL="0">
                        <a:lnSpc>
                          <a:spcPts val="1960"/>
                        </a:lnSpc>
                        <a:buNone/>
                      </a:pPr>
                      <a:r>
                        <a:rPr lang="en-US" sz="1400" dirty="0">
                          <a:solidFill>
                            <a:srgbClr val="18181B"/>
                          </a:solidFill>
                          <a:latin typeface="Inter" pitchFamily="34" charset="0"/>
                          <a:ea typeface="Inter" pitchFamily="34" charset="-122"/>
                          <a:cs typeface="Inter" pitchFamily="34" charset="-120"/>
                        </a:rPr>
                        <a:t>SFace</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99.4 %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26.1 %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17.2 %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95.5 %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r h="386027">
                <a:tc>
                  <a:txBody>
                    <a:bodyPr/>
                    <a:lstStyle/>
                    <a:p>
                      <a:pPr indent="0" marL="0">
                        <a:lnSpc>
                          <a:spcPts val="1960"/>
                        </a:lnSpc>
                        <a:buNone/>
                      </a:pPr>
                      <a:r>
                        <a:rPr lang="en-US" sz="1400" dirty="0">
                          <a:solidFill>
                            <a:srgbClr val="18181B"/>
                          </a:solidFill>
                          <a:latin typeface="Inter" pitchFamily="34" charset="0"/>
                          <a:ea typeface="Inter" pitchFamily="34" charset="-122"/>
                          <a:cs typeface="Inter" pitchFamily="34" charset="-120"/>
                        </a:rPr>
                        <a:t>LBP histograms (classical)</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58.5 %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20.0 %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16.4 %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c>
                  <a:txBody>
                    <a:bodyPr/>
                    <a:lstStyle/>
                    <a:p>
                      <a:pPr algn="r" indent="0" marL="0">
                        <a:lnSpc>
                          <a:spcPts val="1960"/>
                        </a:lnSpc>
                        <a:buNone/>
                      </a:pPr>
                      <a:r>
                        <a:rPr lang="en-US" sz="1400" dirty="0">
                          <a:solidFill>
                            <a:srgbClr val="18181B"/>
                          </a:solidFill>
                          <a:latin typeface="Inter" pitchFamily="34" charset="0"/>
                          <a:ea typeface="Inter" pitchFamily="34" charset="-122"/>
                          <a:cs typeface="Inter" pitchFamily="34" charset="-120"/>
                        </a:rPr>
                        <a:t>8.0 %</a:t>
                      </a:r>
                      <a:endParaRPr lang="en-US" sz="1400" dirty="0">
                        <a:latin typeface="Inter" charset="0"/>
                        <a:ea typeface="Inter" charset="0"/>
                        <a:cs typeface="Inter" charset="0"/>
                      </a:endParaRPr>
                    </a:p>
                  </a:txBody>
                  <a:tcPr marL="62230" marR="62230" marT="62230" marB="62230" anchor="t">
                    <a:lnL w="12700" cap="flat" cmpd="sng" algn="ctr">
                      <a:solidFill>
                        <a:srgbClr val="C5C4C2"/>
                      </a:solidFill>
                      <a:prstDash val="solid"/>
                      <a:round/>
                      <a:headEnd type="none" w="med" len="med"/>
                      <a:tailEnd type="none" w="med" len="med"/>
                    </a:lnL>
                    <a:lnR w="12700" cap="flat" cmpd="sng" algn="ctr">
                      <a:solidFill>
                        <a:srgbClr val="C5C4C2"/>
                      </a:solidFill>
                      <a:prstDash val="solid"/>
                      <a:round/>
                      <a:headEnd type="none" w="med" len="med"/>
                      <a:tailEnd type="none" w="med" len="med"/>
                    </a:lnR>
                    <a:lnT w="12700" cap="flat" cmpd="sng" algn="ctr">
                      <a:solidFill>
                        <a:srgbClr val="C5C4C2"/>
                      </a:solidFill>
                      <a:prstDash val="solid"/>
                      <a:round/>
                      <a:headEnd type="none" w="med" len="med"/>
                      <a:tailEnd type="none" w="med" len="med"/>
                    </a:lnT>
                    <a:lnB w="12700" cap="flat" cmpd="sng" algn="ctr">
                      <a:solidFill>
                        <a:srgbClr val="C5C4C2"/>
                      </a:solidFill>
                      <a:prstDash val="solid"/>
                      <a:round/>
                      <a:headEnd type="none" w="med" len="med"/>
                      <a:tailEnd type="none" w="med" len="med"/>
                    </a:lnB>
                  </a:tcPr>
                </a:tc>
              </a:tr>
            </a:tbl>
          </a:graphicData>
        </a:graphic>
      </p:graphicFrame>
      <p:sp>
        <p:nvSpPr>
          <p:cNvPr id="5" name="Shape 2"/>
          <p:cNvSpPr/>
          <p:nvPr/>
        </p:nvSpPr>
        <p:spPr>
          <a:xfrm>
            <a:off x="812800" y="4754600"/>
            <a:ext cx="5181600" cy="0"/>
          </a:xfrm>
          <a:prstGeom prst="line">
            <a:avLst/>
          </a:prstGeom>
          <a:noFill/>
          <a:ln w="25400">
            <a:solidFill>
              <a:srgbClr val="15803D"/>
            </a:solidFill>
            <a:prstDash val="solid"/>
          </a:ln>
        </p:spPr>
      </p:sp>
      <p:sp>
        <p:nvSpPr>
          <p:cNvPr id="6" name="Text 3"/>
          <p:cNvSpPr/>
          <p:nvPr/>
        </p:nvSpPr>
        <p:spPr>
          <a:xfrm>
            <a:off x="812800" y="4919700"/>
            <a:ext cx="533704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181B"/>
                </a:solidFill>
                <a:latin typeface="Inter" pitchFamily="34" charset="0"/>
                <a:ea typeface="Inter" pitchFamily="34" charset="-122"/>
                <a:cs typeface="Inter" pitchFamily="34" charset="-120"/>
              </a:rPr>
              <a:t>No retraining needed for Indian faces</a:t>
            </a:r>
            <a:endParaRPr lang="en-US" sz="1600" dirty="0"/>
          </a:p>
        </p:txBody>
      </p:sp>
      <p:sp>
        <p:nvSpPr>
          <p:cNvPr id="7" name="Text 4"/>
          <p:cNvSpPr/>
          <p:nvPr/>
        </p:nvSpPr>
        <p:spPr>
          <a:xfrm>
            <a:off x="812800" y="5239711"/>
            <a:ext cx="533704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D5D66"/>
                </a:solidFill>
                <a:latin typeface="Inter" pitchFamily="34" charset="0"/>
                <a:ea typeface="Inter" pitchFamily="34" charset="-122"/>
                <a:cs typeface="Inter" pitchFamily="34" charset="-120"/>
              </a:rPr>
              <a:t>98.5 % on real classroom footage from IIT Madras, with the model as it is.</a:t>
            </a:r>
            <a:endParaRPr lang="en-US" sz="1300" dirty="0"/>
          </a:p>
        </p:txBody>
      </p:sp>
      <p:sp>
        <p:nvSpPr>
          <p:cNvPr id="8" name="Shape 5"/>
          <p:cNvSpPr/>
          <p:nvPr/>
        </p:nvSpPr>
        <p:spPr>
          <a:xfrm>
            <a:off x="6197600" y="4754600"/>
            <a:ext cx="5181600" cy="0"/>
          </a:xfrm>
          <a:prstGeom prst="line">
            <a:avLst/>
          </a:prstGeom>
          <a:noFill/>
          <a:ln w="25400">
            <a:solidFill>
              <a:srgbClr val="B45309"/>
            </a:solidFill>
            <a:prstDash val="solid"/>
          </a:ln>
        </p:spPr>
      </p:sp>
      <p:sp>
        <p:nvSpPr>
          <p:cNvPr id="9" name="Text 6"/>
          <p:cNvSpPr/>
          <p:nvPr/>
        </p:nvSpPr>
        <p:spPr>
          <a:xfrm>
            <a:off x="6197600" y="4919700"/>
            <a:ext cx="533704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181B"/>
                </a:solidFill>
                <a:latin typeface="Inter" pitchFamily="34" charset="0"/>
                <a:ea typeface="Inter" pitchFamily="34" charset="-122"/>
                <a:cs typeface="Inter" pitchFamily="34" charset="-120"/>
              </a:rPr>
              <a:t>Calibration: an honest negative</a:t>
            </a:r>
            <a:endParaRPr lang="en-US" sz="1600" dirty="0"/>
          </a:p>
        </p:txBody>
      </p:sp>
      <p:sp>
        <p:nvSpPr>
          <p:cNvPr id="10" name="Text 7"/>
          <p:cNvSpPr/>
          <p:nvPr/>
        </p:nvSpPr>
        <p:spPr>
          <a:xfrm>
            <a:off x="6197600" y="5239711"/>
            <a:ext cx="5337048" cy="504164"/>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D5D66"/>
                </a:solidFill>
                <a:latin typeface="Inter" pitchFamily="34" charset="0"/>
                <a:ea typeface="Inter" pitchFamily="34" charset="-122"/>
                <a:cs typeface="Inter" pitchFamily="34" charset="-120"/>
              </a:rPr>
              <a:t>Our score calibration lifts 12-px faces from 86 % to 93 % accepted, but does not help at classroom sizes, so it is off.</a:t>
            </a:r>
            <a:endParaRPr lang="en-US" sz="1300" dirty="0"/>
          </a:p>
        </p:txBody>
      </p:sp>
      <p:sp>
        <p:nvSpPr>
          <p:cNvPr id="11" name="Text 8"/>
          <p:cNvSpPr/>
          <p:nvPr/>
        </p:nvSpPr>
        <p:spPr>
          <a:xfrm>
            <a:off x="812800" y="6238249"/>
            <a:ext cx="941832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LFW: verification · TinyFace: rank-1 and open-set (1 % false alarms) · Indian: ICFD rank-1</a:t>
            </a:r>
            <a:endParaRPr lang="en-US" sz="1200" dirty="0"/>
          </a:p>
        </p:txBody>
      </p:sp>
      <p:sp>
        <p:nvSpPr>
          <p:cNvPr id="12" name="Text 9"/>
          <p:cNvSpPr/>
          <p:nvPr/>
        </p:nvSpPr>
        <p:spPr>
          <a:xfrm>
            <a:off x="10058400" y="6238249"/>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UTKARSH · FACE MODELS ON OUR CLASS</a:t>
            </a:r>
            <a:endParaRPr lang="en-US" sz="1200" dirty="0"/>
          </a:p>
        </p:txBody>
      </p:sp>
      <p:sp>
        <p:nvSpPr>
          <p:cNvPr id="3" name="Text 1"/>
          <p:cNvSpPr/>
          <p:nvPr>
            <p:ph type="title"/>
          </p:nvPr>
        </p:nvSpPr>
        <p:spPr>
          <a:xfrm>
            <a:off x="812800" y="1330958"/>
            <a:ext cx="10883392" cy="960107"/>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181B"/>
                </a:solidFill>
                <a:latin typeface="Inter" pitchFamily="34" charset="0"/>
                <a:ea typeface="Inter" pitchFamily="34" charset="-122"/>
                <a:cs typeface="Inter" pitchFamily="34" charset="-120"/>
              </a:rPr>
              <a:t>On our own class, ArcFace ResNet-50 is the clear choice</a:t>
            </a:r>
            <a:endParaRPr lang="en-US" sz="3200" dirty="0"/>
          </a:p>
        </p:txBody>
      </p:sp>
      <p:sp>
        <p:nvSpPr>
          <p:cNvPr id="4" name="Text 2"/>
          <p:cNvSpPr/>
          <p:nvPr/>
        </p:nvSpPr>
        <p:spPr>
          <a:xfrm>
            <a:off x="812800" y="2677120"/>
            <a:ext cx="2158365" cy="238753"/>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D5D66"/>
                </a:solidFill>
                <a:latin typeface="Inter" pitchFamily="34" charset="0"/>
                <a:ea typeface="Inter" pitchFamily="34" charset="-122"/>
                <a:cs typeface="Inter" pitchFamily="34" charset="-120"/>
              </a:rPr>
              <a:t>FACE MODEL</a:t>
            </a:r>
            <a:endParaRPr lang="en-US" sz="1200" dirty="0"/>
          </a:p>
        </p:txBody>
      </p:sp>
      <p:sp>
        <p:nvSpPr>
          <p:cNvPr id="5" name="Text 3"/>
          <p:cNvSpPr/>
          <p:nvPr/>
        </p:nvSpPr>
        <p:spPr>
          <a:xfrm>
            <a:off x="3060700" y="2677120"/>
            <a:ext cx="4002786" cy="238753"/>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D5D66"/>
                </a:solidFill>
                <a:latin typeface="Inter" pitchFamily="34" charset="0"/>
                <a:ea typeface="Inter" pitchFamily="34" charset="-122"/>
                <a:cs typeface="Inter" pitchFamily="34" charset="-120"/>
              </a:rPr>
              <a:t>NAMED CORRECTLY (OF 117)</a:t>
            </a:r>
            <a:endParaRPr lang="en-US" sz="1200" dirty="0"/>
          </a:p>
        </p:txBody>
      </p:sp>
      <p:sp>
        <p:nvSpPr>
          <p:cNvPr id="6" name="Text 4"/>
          <p:cNvSpPr/>
          <p:nvPr/>
        </p:nvSpPr>
        <p:spPr>
          <a:xfrm>
            <a:off x="7048500" y="2570460"/>
            <a:ext cx="1003300" cy="452107"/>
          </a:xfrm>
          <a:prstGeom prst="rect">
            <a:avLst/>
          </a:prstGeom>
          <a:noFill/>
          <a:ln/>
        </p:spPr>
        <p:txBody>
          <a:bodyPr wrap="square" lIns="0" tIns="0" rIns="0" bIns="0" rtlCol="0" anchor="t">
            <a:normAutofit/>
          </a:bodyPr>
          <a:lstStyle/>
          <a:p>
            <a:pPr algn="r" indent="0" marL="0">
              <a:lnSpc>
                <a:spcPts val="1680"/>
              </a:lnSpc>
              <a:buNone/>
            </a:pPr>
            <a:r>
              <a:rPr lang="en-US" sz="1200" spc="50" kern="0" dirty="0">
                <a:solidFill>
                  <a:srgbClr val="5D5D66"/>
                </a:solidFill>
                <a:latin typeface="Inter" pitchFamily="34" charset="0"/>
                <a:ea typeface="Inter" pitchFamily="34" charset="-122"/>
                <a:cs typeface="Inter" pitchFamily="34" charset="-120"/>
              </a:rPr>
              <a:t>STRANGERS</a:t>
            </a:r>
            <a:endParaRPr lang="en-US" sz="1200" dirty="0"/>
          </a:p>
        </p:txBody>
      </p:sp>
      <p:sp>
        <p:nvSpPr>
          <p:cNvPr id="7" name="Text 5"/>
          <p:cNvSpPr/>
          <p:nvPr/>
        </p:nvSpPr>
        <p:spPr>
          <a:xfrm>
            <a:off x="812800" y="3143219"/>
            <a:ext cx="215836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5803D"/>
                </a:solidFill>
                <a:latin typeface="Inter" pitchFamily="34" charset="0"/>
                <a:ea typeface="Inter" pitchFamily="34" charset="-122"/>
                <a:cs typeface="Inter" pitchFamily="34" charset="-120"/>
              </a:rPr>
              <a:t>ResNet-50 (used)</a:t>
            </a:r>
            <a:endParaRPr lang="en-US" sz="1500" dirty="0"/>
          </a:p>
        </p:txBody>
      </p:sp>
      <p:sp>
        <p:nvSpPr>
          <p:cNvPr id="8" name="Shape 6"/>
          <p:cNvSpPr/>
          <p:nvPr/>
        </p:nvSpPr>
        <p:spPr>
          <a:xfrm>
            <a:off x="3060700" y="3136869"/>
            <a:ext cx="3302000" cy="279400"/>
          </a:xfrm>
          <a:prstGeom prst="roundRect">
            <a:avLst>
              <a:gd name="adj" fmla="val 18182"/>
            </a:avLst>
          </a:prstGeom>
          <a:solidFill>
            <a:srgbClr val="15803D"/>
          </a:solidFill>
          <a:ln/>
        </p:spPr>
      </p:sp>
      <p:sp>
        <p:nvSpPr>
          <p:cNvPr id="9" name="Text 7"/>
          <p:cNvSpPr/>
          <p:nvPr/>
        </p:nvSpPr>
        <p:spPr>
          <a:xfrm>
            <a:off x="6464300" y="3143219"/>
            <a:ext cx="4114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5803D"/>
                </a:solidFill>
                <a:latin typeface="JetBrains Mono" pitchFamily="49" charset="0"/>
                <a:ea typeface="JetBrains Mono" pitchFamily="49" charset="-122"/>
                <a:cs typeface="JetBrains Mono" pitchFamily="49" charset="-120"/>
              </a:rPr>
              <a:t>115</a:t>
            </a:r>
            <a:endParaRPr lang="en-US" sz="1500" dirty="0"/>
          </a:p>
        </p:txBody>
      </p:sp>
      <p:sp>
        <p:nvSpPr>
          <p:cNvPr id="10" name="Text 8"/>
          <p:cNvSpPr/>
          <p:nvPr/>
        </p:nvSpPr>
        <p:spPr>
          <a:xfrm>
            <a:off x="7048500" y="3143219"/>
            <a:ext cx="100330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18181B"/>
                </a:solidFill>
                <a:latin typeface="JetBrains Mono" pitchFamily="49" charset="0"/>
                <a:ea typeface="JetBrains Mono" pitchFamily="49" charset="-122"/>
                <a:cs typeface="JetBrains Mono" pitchFamily="49" charset="-120"/>
              </a:rPr>
              <a:t>6</a:t>
            </a:r>
            <a:endParaRPr lang="en-US" sz="1500" dirty="0"/>
          </a:p>
        </p:txBody>
      </p:sp>
      <p:sp>
        <p:nvSpPr>
          <p:cNvPr id="11" name="Text 9"/>
          <p:cNvSpPr/>
          <p:nvPr/>
        </p:nvSpPr>
        <p:spPr>
          <a:xfrm>
            <a:off x="812800" y="3562319"/>
            <a:ext cx="215836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8181B"/>
                </a:solidFill>
                <a:latin typeface="Inter" pitchFamily="34" charset="0"/>
                <a:ea typeface="Inter" pitchFamily="34" charset="-122"/>
                <a:cs typeface="Inter" pitchFamily="34" charset="-120"/>
              </a:rPr>
              <a:t>MobileFaceNet</a:t>
            </a:r>
            <a:endParaRPr lang="en-US" sz="1500" dirty="0"/>
          </a:p>
        </p:txBody>
      </p:sp>
      <p:sp>
        <p:nvSpPr>
          <p:cNvPr id="12" name="Shape 10"/>
          <p:cNvSpPr/>
          <p:nvPr/>
        </p:nvSpPr>
        <p:spPr>
          <a:xfrm>
            <a:off x="3060700" y="3555969"/>
            <a:ext cx="3213100" cy="279400"/>
          </a:xfrm>
          <a:prstGeom prst="roundRect">
            <a:avLst>
              <a:gd name="adj" fmla="val 18182"/>
            </a:avLst>
          </a:prstGeom>
          <a:solidFill>
            <a:srgbClr val="71717A"/>
          </a:solidFill>
          <a:ln/>
        </p:spPr>
      </p:sp>
      <p:sp>
        <p:nvSpPr>
          <p:cNvPr id="13" name="Text 11"/>
          <p:cNvSpPr/>
          <p:nvPr/>
        </p:nvSpPr>
        <p:spPr>
          <a:xfrm>
            <a:off x="6375400" y="3562319"/>
            <a:ext cx="4114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8181B"/>
                </a:solidFill>
                <a:latin typeface="JetBrains Mono" pitchFamily="49" charset="0"/>
                <a:ea typeface="JetBrains Mono" pitchFamily="49" charset="-122"/>
                <a:cs typeface="JetBrains Mono" pitchFamily="49" charset="-120"/>
              </a:rPr>
              <a:t>112</a:t>
            </a:r>
            <a:endParaRPr lang="en-US" sz="1500" dirty="0"/>
          </a:p>
        </p:txBody>
      </p:sp>
      <p:sp>
        <p:nvSpPr>
          <p:cNvPr id="14" name="Text 12"/>
          <p:cNvSpPr/>
          <p:nvPr/>
        </p:nvSpPr>
        <p:spPr>
          <a:xfrm>
            <a:off x="7048500" y="3562319"/>
            <a:ext cx="100330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18181B"/>
                </a:solidFill>
                <a:latin typeface="JetBrains Mono" pitchFamily="49" charset="0"/>
                <a:ea typeface="JetBrains Mono" pitchFamily="49" charset="-122"/>
                <a:cs typeface="JetBrains Mono" pitchFamily="49" charset="-120"/>
              </a:rPr>
              <a:t>6</a:t>
            </a:r>
            <a:endParaRPr lang="en-US" sz="1500" dirty="0"/>
          </a:p>
        </p:txBody>
      </p:sp>
      <p:sp>
        <p:nvSpPr>
          <p:cNvPr id="15" name="Text 13"/>
          <p:cNvSpPr/>
          <p:nvPr/>
        </p:nvSpPr>
        <p:spPr>
          <a:xfrm>
            <a:off x="812800" y="3981419"/>
            <a:ext cx="215836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8181B"/>
                </a:solidFill>
                <a:latin typeface="Inter" pitchFamily="34" charset="0"/>
                <a:ea typeface="Inter" pitchFamily="34" charset="-122"/>
                <a:cs typeface="Inter" pitchFamily="34" charset="-120"/>
              </a:rPr>
              <a:t>SFace</a:t>
            </a:r>
            <a:endParaRPr lang="en-US" sz="1500" dirty="0"/>
          </a:p>
        </p:txBody>
      </p:sp>
      <p:sp>
        <p:nvSpPr>
          <p:cNvPr id="16" name="Shape 14"/>
          <p:cNvSpPr/>
          <p:nvPr/>
        </p:nvSpPr>
        <p:spPr>
          <a:xfrm>
            <a:off x="3060700" y="3975069"/>
            <a:ext cx="2870200" cy="279400"/>
          </a:xfrm>
          <a:prstGeom prst="roundRect">
            <a:avLst>
              <a:gd name="adj" fmla="val 18182"/>
            </a:avLst>
          </a:prstGeom>
          <a:solidFill>
            <a:srgbClr val="71717A"/>
          </a:solidFill>
          <a:ln/>
        </p:spPr>
      </p:sp>
      <p:sp>
        <p:nvSpPr>
          <p:cNvPr id="17" name="Text 15"/>
          <p:cNvSpPr/>
          <p:nvPr/>
        </p:nvSpPr>
        <p:spPr>
          <a:xfrm>
            <a:off x="6032500" y="3981419"/>
            <a:ext cx="4114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8181B"/>
                </a:solidFill>
                <a:latin typeface="JetBrains Mono" pitchFamily="49" charset="0"/>
                <a:ea typeface="JetBrains Mono" pitchFamily="49" charset="-122"/>
                <a:cs typeface="JetBrains Mono" pitchFamily="49" charset="-120"/>
              </a:rPr>
              <a:t>100</a:t>
            </a:r>
            <a:endParaRPr lang="en-US" sz="1500" dirty="0"/>
          </a:p>
        </p:txBody>
      </p:sp>
      <p:sp>
        <p:nvSpPr>
          <p:cNvPr id="18" name="Text 16"/>
          <p:cNvSpPr/>
          <p:nvPr/>
        </p:nvSpPr>
        <p:spPr>
          <a:xfrm>
            <a:off x="7048500" y="3981419"/>
            <a:ext cx="100330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18181B"/>
                </a:solidFill>
                <a:latin typeface="JetBrains Mono" pitchFamily="49" charset="0"/>
                <a:ea typeface="JetBrains Mono" pitchFamily="49" charset="-122"/>
                <a:cs typeface="JetBrains Mono" pitchFamily="49" charset="-120"/>
              </a:rPr>
              <a:t>15</a:t>
            </a:r>
            <a:endParaRPr lang="en-US" sz="1500" dirty="0"/>
          </a:p>
        </p:txBody>
      </p:sp>
      <p:sp>
        <p:nvSpPr>
          <p:cNvPr id="19" name="Text 17"/>
          <p:cNvSpPr/>
          <p:nvPr/>
        </p:nvSpPr>
        <p:spPr>
          <a:xfrm>
            <a:off x="812800" y="4400519"/>
            <a:ext cx="215836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8181B"/>
                </a:solidFill>
                <a:latin typeface="Inter" pitchFamily="34" charset="0"/>
                <a:ea typeface="Inter" pitchFamily="34" charset="-122"/>
                <a:cs typeface="Inter" pitchFamily="34" charset="-120"/>
              </a:rPr>
              <a:t>LBP (classical)</a:t>
            </a:r>
            <a:endParaRPr lang="en-US" sz="1500" dirty="0"/>
          </a:p>
        </p:txBody>
      </p:sp>
      <p:sp>
        <p:nvSpPr>
          <p:cNvPr id="20" name="Shape 18"/>
          <p:cNvSpPr/>
          <p:nvPr/>
        </p:nvSpPr>
        <p:spPr>
          <a:xfrm>
            <a:off x="3060700" y="4394169"/>
            <a:ext cx="171450" cy="279400"/>
          </a:xfrm>
          <a:prstGeom prst="roundRect">
            <a:avLst>
              <a:gd name="adj" fmla="val 29630"/>
            </a:avLst>
          </a:prstGeom>
          <a:solidFill>
            <a:srgbClr val="B45309"/>
          </a:solidFill>
          <a:ln/>
        </p:spPr>
      </p:sp>
      <p:sp>
        <p:nvSpPr>
          <p:cNvPr id="21" name="Text 19"/>
          <p:cNvSpPr/>
          <p:nvPr/>
        </p:nvSpPr>
        <p:spPr>
          <a:xfrm>
            <a:off x="3333750" y="4400519"/>
            <a:ext cx="1651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09"/>
                </a:solidFill>
                <a:latin typeface="JetBrains Mono" pitchFamily="49" charset="0"/>
                <a:ea typeface="JetBrains Mono" pitchFamily="49" charset="-122"/>
                <a:cs typeface="JetBrains Mono" pitchFamily="49" charset="-120"/>
              </a:rPr>
              <a:t>6</a:t>
            </a:r>
            <a:endParaRPr lang="en-US" sz="1500" dirty="0"/>
          </a:p>
        </p:txBody>
      </p:sp>
      <p:sp>
        <p:nvSpPr>
          <p:cNvPr id="22" name="Text 20"/>
          <p:cNvSpPr/>
          <p:nvPr/>
        </p:nvSpPr>
        <p:spPr>
          <a:xfrm>
            <a:off x="7048500" y="4400519"/>
            <a:ext cx="10033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B45309"/>
                </a:solidFill>
                <a:latin typeface="JetBrains Mono" pitchFamily="49" charset="0"/>
                <a:ea typeface="JetBrains Mono" pitchFamily="49" charset="-122"/>
                <a:cs typeface="JetBrains Mono" pitchFamily="49" charset="-120"/>
              </a:rPr>
              <a:t>121</a:t>
            </a:r>
            <a:endParaRPr lang="en-US" sz="1500" dirty="0"/>
          </a:p>
        </p:txBody>
      </p:sp>
      <p:sp>
        <p:nvSpPr>
          <p:cNvPr id="23" name="Shape 21"/>
          <p:cNvSpPr/>
          <p:nvPr/>
        </p:nvSpPr>
        <p:spPr>
          <a:xfrm>
            <a:off x="8458200" y="2570460"/>
            <a:ext cx="2921000" cy="2547541"/>
          </a:xfrm>
          <a:prstGeom prst="roundRect">
            <a:avLst>
              <a:gd name="adj" fmla="val 5982"/>
            </a:avLst>
          </a:prstGeom>
          <a:solidFill>
            <a:srgbClr val="141416"/>
          </a:solidFill>
          <a:ln/>
        </p:spPr>
      </p:sp>
      <p:sp>
        <p:nvSpPr>
          <p:cNvPr id="24" name="Text 22"/>
          <p:cNvSpPr/>
          <p:nvPr/>
        </p:nvSpPr>
        <p:spPr>
          <a:xfrm>
            <a:off x="8737600" y="2849860"/>
            <a:ext cx="2433066"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FBBF24"/>
                </a:solidFill>
                <a:latin typeface="JetBrains Mono" pitchFamily="49" charset="0"/>
                <a:ea typeface="JetBrains Mono" pitchFamily="49" charset="-122"/>
                <a:cs typeface="JetBrains Mono" pitchFamily="49" charset="-120"/>
              </a:rPr>
              <a:t>121</a:t>
            </a:r>
            <a:endParaRPr lang="en-US" sz="4000" dirty="0"/>
          </a:p>
        </p:txBody>
      </p:sp>
      <p:sp>
        <p:nvSpPr>
          <p:cNvPr id="25" name="Text 23"/>
          <p:cNvSpPr/>
          <p:nvPr/>
        </p:nvSpPr>
        <p:spPr>
          <a:xfrm>
            <a:off x="8737600" y="3484860"/>
            <a:ext cx="243306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4F5"/>
                </a:solidFill>
                <a:latin typeface="Inter" pitchFamily="34" charset="0"/>
                <a:ea typeface="Inter" pitchFamily="34" charset="-122"/>
                <a:cs typeface="Inter" pitchFamily="34" charset="-120"/>
              </a:rPr>
              <a:t>strangers named by the classical LBP method</a:t>
            </a:r>
            <a:endParaRPr lang="en-US" sz="1500" dirty="0"/>
          </a:p>
        </p:txBody>
      </p:sp>
      <p:sp>
        <p:nvSpPr>
          <p:cNvPr id="26" name="Text 24"/>
          <p:cNvSpPr/>
          <p:nvPr/>
        </p:nvSpPr>
        <p:spPr>
          <a:xfrm>
            <a:off x="8737600" y="4145260"/>
            <a:ext cx="2433066"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1A1AA"/>
                </a:solidFill>
                <a:latin typeface="Inter" pitchFamily="34" charset="0"/>
                <a:ea typeface="Inter" pitchFamily="34" charset="-122"/>
                <a:cs typeface="Inter" pitchFamily="34" charset="-120"/>
              </a:rPr>
              <a:t>Hand-crafted texture features do not survive real classroom photos; learned features do.</a:t>
            </a:r>
            <a:endParaRPr lang="en-US" sz="1300" dirty="0"/>
          </a:p>
        </p:txBody>
      </p:sp>
      <p:sp>
        <p:nvSpPr>
          <p:cNvPr id="27" name="Text 25"/>
          <p:cNvSpPr/>
          <p:nvPr/>
        </p:nvSpPr>
        <p:spPr>
          <a:xfrm>
            <a:off x="812800" y="5422801"/>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All four models run inside the same final pipeline (tiling, degraded enrollment, one-to-one), on the same 10 photos.</a:t>
            </a:r>
            <a:endParaRPr lang="en-US" sz="1300" dirty="0"/>
          </a:p>
        </p:txBody>
      </p:sp>
      <p:sp>
        <p:nvSpPr>
          <p:cNvPr id="28" name="Text 26"/>
          <p:cNvSpPr/>
          <p:nvPr/>
        </p:nvSpPr>
        <p:spPr>
          <a:xfrm>
            <a:off x="812800" y="6238249"/>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29" name="Text 27"/>
          <p:cNvSpPr/>
          <p:nvPr/>
        </p:nvSpPr>
        <p:spPr>
          <a:xfrm>
            <a:off x="10058400" y="6238249"/>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10883392" cy="216198"/>
          </a:xfrm>
          <a:prstGeom prst="rect">
            <a:avLst/>
          </a:prstGeom>
          <a:noFill/>
          <a:ln/>
        </p:spPr>
        <p:txBody>
          <a:bodyPr wrap="square" lIns="0" tIns="0" rIns="0" bIns="0" rtlCol="0" anchor="t">
            <a:normAutofit/>
          </a:bodyPr>
          <a:lstStyle/>
          <a:p>
            <a:pPr algn="l" indent="0" marL="0">
              <a:lnSpc>
                <a:spcPts val="1523"/>
              </a:lnSpc>
              <a:buNone/>
            </a:pPr>
            <a:r>
              <a:rPr lang="en-US" sz="1088" spc="100" kern="0" dirty="0">
                <a:solidFill>
                  <a:srgbClr val="15803D"/>
                </a:solidFill>
                <a:latin typeface="JetBrains Mono" pitchFamily="49" charset="0"/>
                <a:ea typeface="JetBrains Mono" pitchFamily="49" charset="-122"/>
                <a:cs typeface="JetBrains Mono" pitchFamily="49" charset="-120"/>
              </a:rPr>
              <a:t>TANISH · RESULTS ON OUR CLASS</a:t>
            </a:r>
            <a:endParaRPr lang="en-US" sz="1088" dirty="0"/>
          </a:p>
        </p:txBody>
      </p:sp>
      <p:sp>
        <p:nvSpPr>
          <p:cNvPr id="3" name="Text 1"/>
          <p:cNvSpPr/>
          <p:nvPr>
            <p:ph type="title"/>
          </p:nvPr>
        </p:nvSpPr>
        <p:spPr>
          <a:xfrm>
            <a:off x="812800" y="1308398"/>
            <a:ext cx="10883392" cy="861318"/>
          </a:xfrm>
          <a:prstGeom prst="rect">
            <a:avLst/>
          </a:prstGeom>
          <a:noFill/>
          <a:ln/>
        </p:spPr>
        <p:txBody>
          <a:bodyPr wrap="square" lIns="0" tIns="0" rIns="0" bIns="0" rtlCol="0" anchor="t">
            <a:normAutofit/>
          </a:bodyPr>
          <a:lstStyle/>
          <a:p>
            <a:pPr algn="l" indent="0" marL="0">
              <a:lnSpc>
                <a:spcPts val="3312"/>
              </a:lnSpc>
              <a:buNone/>
            </a:pPr>
            <a:r>
              <a:rPr lang="en-US" sz="2880" b="1" i="0" dirty="0">
                <a:solidFill>
                  <a:srgbClr val="18181B"/>
                </a:solidFill>
                <a:latin typeface="Inter" pitchFamily="34" charset="0"/>
                <a:ea typeface="Inter" pitchFamily="34" charset="-122"/>
                <a:cs typeface="Inter" pitchFamily="34" charset="-120"/>
              </a:rPr>
              <a:t>Each fix removes mistakes: 5× fewer strangers given a student’s name</a:t>
            </a:r>
            <a:endParaRPr lang="en-US" sz="2880" dirty="0"/>
          </a:p>
        </p:txBody>
      </p:sp>
      <p:sp>
        <p:nvSpPr>
          <p:cNvPr id="4" name="Text 2"/>
          <p:cNvSpPr/>
          <p:nvPr/>
        </p:nvSpPr>
        <p:spPr>
          <a:xfrm>
            <a:off x="812800" y="2449116"/>
            <a:ext cx="2354580" cy="238753"/>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D5D66"/>
                </a:solidFill>
                <a:latin typeface="Inter" pitchFamily="34" charset="0"/>
                <a:ea typeface="Inter" pitchFamily="34" charset="-122"/>
                <a:cs typeface="Inter" pitchFamily="34" charset="-120"/>
              </a:rPr>
              <a:t>CONFIGURATION</a:t>
            </a:r>
            <a:endParaRPr lang="en-US" sz="1200" dirty="0"/>
          </a:p>
        </p:txBody>
      </p:sp>
      <p:sp>
        <p:nvSpPr>
          <p:cNvPr id="5" name="Text 3"/>
          <p:cNvSpPr/>
          <p:nvPr/>
        </p:nvSpPr>
        <p:spPr>
          <a:xfrm>
            <a:off x="3251200" y="2449116"/>
            <a:ext cx="4133596" cy="238753"/>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D5D66"/>
                </a:solidFill>
                <a:latin typeface="Inter" pitchFamily="34" charset="0"/>
                <a:ea typeface="Inter" pitchFamily="34" charset="-122"/>
                <a:cs typeface="Inter" pitchFamily="34" charset="-120"/>
              </a:rPr>
              <a:t>STRANGERS NAMED</a:t>
            </a:r>
            <a:endParaRPr lang="en-US" sz="1200" dirty="0"/>
          </a:p>
        </p:txBody>
      </p:sp>
      <p:sp>
        <p:nvSpPr>
          <p:cNvPr id="6" name="Text 4"/>
          <p:cNvSpPr/>
          <p:nvPr/>
        </p:nvSpPr>
        <p:spPr>
          <a:xfrm>
            <a:off x="7366000" y="2449116"/>
            <a:ext cx="812800" cy="238753"/>
          </a:xfrm>
          <a:prstGeom prst="rect">
            <a:avLst/>
          </a:prstGeom>
          <a:noFill/>
          <a:ln/>
        </p:spPr>
        <p:txBody>
          <a:bodyPr wrap="square" lIns="0" tIns="0" rIns="0" bIns="0" rtlCol="0" anchor="t">
            <a:normAutofit/>
          </a:bodyPr>
          <a:lstStyle/>
          <a:p>
            <a:pPr algn="r" indent="0" marL="0">
              <a:lnSpc>
                <a:spcPts val="1680"/>
              </a:lnSpc>
              <a:buNone/>
            </a:pPr>
            <a:r>
              <a:rPr lang="en-US" sz="1200" spc="50" kern="0" dirty="0">
                <a:solidFill>
                  <a:srgbClr val="5D5D66"/>
                </a:solidFill>
                <a:latin typeface="Inter" pitchFamily="34" charset="0"/>
                <a:ea typeface="Inter" pitchFamily="34" charset="-122"/>
                <a:cs typeface="Inter" pitchFamily="34" charset="-120"/>
              </a:rPr>
              <a:t>F1</a:t>
            </a:r>
            <a:endParaRPr lang="en-US" sz="1200" dirty="0"/>
          </a:p>
        </p:txBody>
      </p:sp>
      <p:sp>
        <p:nvSpPr>
          <p:cNvPr id="7" name="Text 5"/>
          <p:cNvSpPr/>
          <p:nvPr/>
        </p:nvSpPr>
        <p:spPr>
          <a:xfrm>
            <a:off x="812800" y="2808523"/>
            <a:ext cx="23545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8181B"/>
                </a:solidFill>
                <a:latin typeface="Inter" pitchFamily="34" charset="0"/>
                <a:ea typeface="Inter" pitchFamily="34" charset="-122"/>
                <a:cs typeface="Inter" pitchFamily="34" charset="-120"/>
              </a:rPr>
              <a:t>Pretrained baseline</a:t>
            </a:r>
            <a:endParaRPr lang="en-US" sz="1500" dirty="0"/>
          </a:p>
        </p:txBody>
      </p:sp>
      <p:sp>
        <p:nvSpPr>
          <p:cNvPr id="8" name="Shape 6"/>
          <p:cNvSpPr/>
          <p:nvPr/>
        </p:nvSpPr>
        <p:spPr>
          <a:xfrm>
            <a:off x="3251200" y="2802173"/>
            <a:ext cx="3556000" cy="279400"/>
          </a:xfrm>
          <a:prstGeom prst="roundRect">
            <a:avLst>
              <a:gd name="adj" fmla="val 18182"/>
            </a:avLst>
          </a:prstGeom>
          <a:solidFill>
            <a:srgbClr val="A1A1AA"/>
          </a:solidFill>
          <a:ln/>
        </p:spPr>
      </p:sp>
      <p:sp>
        <p:nvSpPr>
          <p:cNvPr id="9" name="Text 7"/>
          <p:cNvSpPr/>
          <p:nvPr/>
        </p:nvSpPr>
        <p:spPr>
          <a:xfrm>
            <a:off x="6908800" y="2808523"/>
            <a:ext cx="279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8181B"/>
                </a:solidFill>
                <a:latin typeface="JetBrains Mono" pitchFamily="49" charset="0"/>
                <a:ea typeface="JetBrains Mono" pitchFamily="49" charset="-122"/>
                <a:cs typeface="JetBrains Mono" pitchFamily="49" charset="-120"/>
              </a:rPr>
              <a:t>32</a:t>
            </a:r>
            <a:endParaRPr lang="en-US" sz="1500" dirty="0"/>
          </a:p>
        </p:txBody>
      </p:sp>
      <p:sp>
        <p:nvSpPr>
          <p:cNvPr id="10" name="Text 8"/>
          <p:cNvSpPr/>
          <p:nvPr/>
        </p:nvSpPr>
        <p:spPr>
          <a:xfrm>
            <a:off x="7366000" y="2808523"/>
            <a:ext cx="81280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18181B"/>
                </a:solidFill>
                <a:latin typeface="JetBrains Mono" pitchFamily="49" charset="0"/>
                <a:ea typeface="JetBrains Mono" pitchFamily="49" charset="-122"/>
                <a:cs typeface="JetBrains Mono" pitchFamily="49" charset="-120"/>
              </a:rPr>
              <a:t>0.954</a:t>
            </a:r>
            <a:endParaRPr lang="en-US" sz="1500" dirty="0"/>
          </a:p>
        </p:txBody>
      </p:sp>
      <p:sp>
        <p:nvSpPr>
          <p:cNvPr id="11" name="Text 9"/>
          <p:cNvSpPr/>
          <p:nvPr/>
        </p:nvSpPr>
        <p:spPr>
          <a:xfrm>
            <a:off x="812800" y="3227623"/>
            <a:ext cx="23545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8181B"/>
                </a:solidFill>
                <a:latin typeface="Inter" pitchFamily="34" charset="0"/>
                <a:ea typeface="Inter" pitchFamily="34" charset="-122"/>
                <a:cs typeface="Inter" pitchFamily="34" charset="-120"/>
              </a:rPr>
              <a:t>+ tiling</a:t>
            </a:r>
            <a:endParaRPr lang="en-US" sz="1500" dirty="0"/>
          </a:p>
        </p:txBody>
      </p:sp>
      <p:sp>
        <p:nvSpPr>
          <p:cNvPr id="12" name="Shape 10"/>
          <p:cNvSpPr/>
          <p:nvPr/>
        </p:nvSpPr>
        <p:spPr>
          <a:xfrm>
            <a:off x="3251200" y="3221273"/>
            <a:ext cx="1663700" cy="279400"/>
          </a:xfrm>
          <a:prstGeom prst="roundRect">
            <a:avLst>
              <a:gd name="adj" fmla="val 18182"/>
            </a:avLst>
          </a:prstGeom>
          <a:solidFill>
            <a:srgbClr val="71717A"/>
          </a:solidFill>
          <a:ln/>
        </p:spPr>
      </p:sp>
      <p:sp>
        <p:nvSpPr>
          <p:cNvPr id="13" name="Text 11"/>
          <p:cNvSpPr/>
          <p:nvPr/>
        </p:nvSpPr>
        <p:spPr>
          <a:xfrm>
            <a:off x="5016500" y="3227623"/>
            <a:ext cx="279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8181B"/>
                </a:solidFill>
                <a:latin typeface="JetBrains Mono" pitchFamily="49" charset="0"/>
                <a:ea typeface="JetBrains Mono" pitchFamily="49" charset="-122"/>
                <a:cs typeface="JetBrains Mono" pitchFamily="49" charset="-120"/>
              </a:rPr>
              <a:t>15</a:t>
            </a:r>
            <a:endParaRPr lang="en-US" sz="1500" dirty="0"/>
          </a:p>
        </p:txBody>
      </p:sp>
      <p:sp>
        <p:nvSpPr>
          <p:cNvPr id="14" name="Text 12"/>
          <p:cNvSpPr/>
          <p:nvPr/>
        </p:nvSpPr>
        <p:spPr>
          <a:xfrm>
            <a:off x="7366000" y="3227623"/>
            <a:ext cx="81280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18181B"/>
                </a:solidFill>
                <a:latin typeface="JetBrains Mono" pitchFamily="49" charset="0"/>
                <a:ea typeface="JetBrains Mono" pitchFamily="49" charset="-122"/>
                <a:cs typeface="JetBrains Mono" pitchFamily="49" charset="-120"/>
              </a:rPr>
              <a:t>0.954</a:t>
            </a:r>
            <a:endParaRPr lang="en-US" sz="1500" dirty="0"/>
          </a:p>
        </p:txBody>
      </p:sp>
      <p:sp>
        <p:nvSpPr>
          <p:cNvPr id="15" name="Text 13"/>
          <p:cNvSpPr/>
          <p:nvPr/>
        </p:nvSpPr>
        <p:spPr>
          <a:xfrm>
            <a:off x="812800" y="3646723"/>
            <a:ext cx="23545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8181B"/>
                </a:solidFill>
                <a:latin typeface="Inter" pitchFamily="34" charset="0"/>
                <a:ea typeface="Inter" pitchFamily="34" charset="-122"/>
                <a:cs typeface="Inter" pitchFamily="34" charset="-120"/>
              </a:rPr>
              <a:t>+ degraded enrollment</a:t>
            </a:r>
            <a:endParaRPr lang="en-US" sz="1500" dirty="0"/>
          </a:p>
        </p:txBody>
      </p:sp>
      <p:sp>
        <p:nvSpPr>
          <p:cNvPr id="16" name="Shape 14"/>
          <p:cNvSpPr/>
          <p:nvPr/>
        </p:nvSpPr>
        <p:spPr>
          <a:xfrm>
            <a:off x="3251200" y="3640373"/>
            <a:ext cx="1663700" cy="279400"/>
          </a:xfrm>
          <a:prstGeom prst="roundRect">
            <a:avLst>
              <a:gd name="adj" fmla="val 18182"/>
            </a:avLst>
          </a:prstGeom>
          <a:solidFill>
            <a:srgbClr val="71717A"/>
          </a:solidFill>
          <a:ln/>
        </p:spPr>
      </p:sp>
      <p:sp>
        <p:nvSpPr>
          <p:cNvPr id="17" name="Text 15"/>
          <p:cNvSpPr/>
          <p:nvPr/>
        </p:nvSpPr>
        <p:spPr>
          <a:xfrm>
            <a:off x="5016500" y="3646723"/>
            <a:ext cx="279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8181B"/>
                </a:solidFill>
                <a:latin typeface="JetBrains Mono" pitchFamily="49" charset="0"/>
                <a:ea typeface="JetBrains Mono" pitchFamily="49" charset="-122"/>
                <a:cs typeface="JetBrains Mono" pitchFamily="49" charset="-120"/>
              </a:rPr>
              <a:t>15</a:t>
            </a:r>
            <a:endParaRPr lang="en-US" sz="1500" dirty="0"/>
          </a:p>
        </p:txBody>
      </p:sp>
      <p:sp>
        <p:nvSpPr>
          <p:cNvPr id="18" name="Text 16"/>
          <p:cNvSpPr/>
          <p:nvPr/>
        </p:nvSpPr>
        <p:spPr>
          <a:xfrm>
            <a:off x="7366000" y="3646723"/>
            <a:ext cx="81280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18181B"/>
                </a:solidFill>
                <a:latin typeface="JetBrains Mono" pitchFamily="49" charset="0"/>
                <a:ea typeface="JetBrains Mono" pitchFamily="49" charset="-122"/>
                <a:cs typeface="JetBrains Mono" pitchFamily="49" charset="-120"/>
              </a:rPr>
              <a:t>0.966</a:t>
            </a:r>
            <a:endParaRPr lang="en-US" sz="1500" dirty="0"/>
          </a:p>
        </p:txBody>
      </p:sp>
      <p:sp>
        <p:nvSpPr>
          <p:cNvPr id="19" name="Text 17"/>
          <p:cNvSpPr/>
          <p:nvPr/>
        </p:nvSpPr>
        <p:spPr>
          <a:xfrm>
            <a:off x="812800" y="4065823"/>
            <a:ext cx="23545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5803D"/>
                </a:solidFill>
                <a:latin typeface="Inter" pitchFamily="34" charset="0"/>
                <a:ea typeface="Inter" pitchFamily="34" charset="-122"/>
                <a:cs typeface="Inter" pitchFamily="34" charset="-120"/>
              </a:rPr>
              <a:t>+ one-to-one (final)</a:t>
            </a:r>
            <a:endParaRPr lang="en-US" sz="1500" dirty="0"/>
          </a:p>
        </p:txBody>
      </p:sp>
      <p:sp>
        <p:nvSpPr>
          <p:cNvPr id="20" name="Shape 18"/>
          <p:cNvSpPr/>
          <p:nvPr/>
        </p:nvSpPr>
        <p:spPr>
          <a:xfrm>
            <a:off x="3251200" y="4059473"/>
            <a:ext cx="666750" cy="279400"/>
          </a:xfrm>
          <a:prstGeom prst="roundRect">
            <a:avLst>
              <a:gd name="adj" fmla="val 18182"/>
            </a:avLst>
          </a:prstGeom>
          <a:solidFill>
            <a:srgbClr val="15803D"/>
          </a:solidFill>
          <a:ln/>
        </p:spPr>
      </p:sp>
      <p:sp>
        <p:nvSpPr>
          <p:cNvPr id="21" name="Text 19"/>
          <p:cNvSpPr/>
          <p:nvPr/>
        </p:nvSpPr>
        <p:spPr>
          <a:xfrm>
            <a:off x="4019550" y="4065823"/>
            <a:ext cx="1651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5803D"/>
                </a:solidFill>
                <a:latin typeface="JetBrains Mono" pitchFamily="49" charset="0"/>
                <a:ea typeface="JetBrains Mono" pitchFamily="49" charset="-122"/>
                <a:cs typeface="JetBrains Mono" pitchFamily="49" charset="-120"/>
              </a:rPr>
              <a:t>6</a:t>
            </a:r>
            <a:endParaRPr lang="en-US" sz="1500" dirty="0"/>
          </a:p>
        </p:txBody>
      </p:sp>
      <p:sp>
        <p:nvSpPr>
          <p:cNvPr id="22" name="Text 20"/>
          <p:cNvSpPr/>
          <p:nvPr/>
        </p:nvSpPr>
        <p:spPr>
          <a:xfrm>
            <a:off x="7366000" y="4065823"/>
            <a:ext cx="812800" cy="292100"/>
          </a:xfrm>
          <a:prstGeom prst="rect">
            <a:avLst/>
          </a:prstGeom>
          <a:noFill/>
          <a:ln/>
        </p:spPr>
        <p:txBody>
          <a:bodyPr wrap="square" lIns="0" tIns="0" rIns="0" bIns="0" rtlCol="0" anchor="t">
            <a:normAutofit/>
          </a:bodyPr>
          <a:lstStyle/>
          <a:p>
            <a:pPr algn="r" indent="0" marL="0">
              <a:lnSpc>
                <a:spcPts val="2100"/>
              </a:lnSpc>
              <a:buNone/>
            </a:pPr>
            <a:r>
              <a:rPr lang="en-US" sz="1500" b="1" dirty="0">
                <a:solidFill>
                  <a:srgbClr val="15803D"/>
                </a:solidFill>
                <a:latin typeface="JetBrains Mono" pitchFamily="49" charset="0"/>
                <a:ea typeface="JetBrains Mono" pitchFamily="49" charset="-122"/>
                <a:cs typeface="JetBrains Mono" pitchFamily="49" charset="-120"/>
              </a:rPr>
              <a:t>0.966</a:t>
            </a:r>
            <a:endParaRPr lang="en-US" sz="1500" dirty="0"/>
          </a:p>
        </p:txBody>
      </p:sp>
      <p:sp>
        <p:nvSpPr>
          <p:cNvPr id="23" name="Shape 21"/>
          <p:cNvSpPr/>
          <p:nvPr/>
        </p:nvSpPr>
        <p:spPr>
          <a:xfrm>
            <a:off x="8585200" y="2449116"/>
            <a:ext cx="2794000" cy="3221964"/>
          </a:xfrm>
          <a:prstGeom prst="roundRect">
            <a:avLst>
              <a:gd name="adj" fmla="val 5455"/>
            </a:avLst>
          </a:prstGeom>
          <a:solidFill>
            <a:srgbClr val="141416"/>
          </a:solidFill>
          <a:ln/>
        </p:spPr>
      </p:sp>
      <p:sp>
        <p:nvSpPr>
          <p:cNvPr id="24" name="Text 22"/>
          <p:cNvSpPr/>
          <p:nvPr/>
        </p:nvSpPr>
        <p:spPr>
          <a:xfrm>
            <a:off x="8890000" y="2753916"/>
            <a:ext cx="2249932" cy="11430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4ADE80"/>
                </a:solidFill>
                <a:latin typeface="JetBrains Mono" pitchFamily="49" charset="0"/>
                <a:ea typeface="JetBrains Mono" pitchFamily="49" charset="-122"/>
                <a:cs typeface="JetBrains Mono" pitchFamily="49" charset="-120"/>
              </a:rPr>
              <a:t>115/117</a:t>
            </a:r>
            <a:endParaRPr lang="en-US" sz="4400" dirty="0"/>
          </a:p>
        </p:txBody>
      </p:sp>
      <p:sp>
        <p:nvSpPr>
          <p:cNvPr id="25" name="Text 23"/>
          <p:cNvSpPr/>
          <p:nvPr/>
        </p:nvSpPr>
        <p:spPr>
          <a:xfrm>
            <a:off x="8890000" y="4023916"/>
            <a:ext cx="22499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4F5"/>
                </a:solidFill>
                <a:latin typeface="Inter" pitchFamily="34" charset="0"/>
                <a:ea typeface="Inter" pitchFamily="34" charset="-122"/>
                <a:cs typeface="Inter" pitchFamily="34" charset="-120"/>
              </a:rPr>
              <a:t>student appearances named correctly</a:t>
            </a:r>
            <a:endParaRPr lang="en-US" sz="1500" dirty="0"/>
          </a:p>
        </p:txBody>
      </p:sp>
      <p:pic>
        <p:nvPicPr>
          <p:cNvPr id="26" name="Image 0" descr="line">    </p:cNvPr>
          <p:cNvPicPr>
            <a:picLocks noChangeAspect="1"/>
          </p:cNvPicPr>
          <p:nvPr/>
        </p:nvPicPr>
        <p:blipFill>
          <a:blip r:embed="rId1"/>
          <a:srcRect l="0" r="0" t="0" b="0"/>
          <a:stretch/>
        </p:blipFill>
        <p:spPr>
          <a:xfrm>
            <a:off x="8890000" y="4709716"/>
            <a:ext cx="2184400" cy="6350"/>
          </a:xfrm>
          <a:prstGeom prst="rect">
            <a:avLst/>
          </a:prstGeom>
        </p:spPr>
      </p:pic>
      <p:sp>
        <p:nvSpPr>
          <p:cNvPr id="27" name="Text 24"/>
          <p:cNvSpPr/>
          <p:nvPr/>
        </p:nvSpPr>
        <p:spPr>
          <a:xfrm>
            <a:off x="8890000" y="4868466"/>
            <a:ext cx="224993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1A1AA"/>
                </a:solidFill>
                <a:latin typeface="Inter" pitchFamily="34" charset="0"/>
                <a:ea typeface="Inter" pitchFamily="34" charset="-122"/>
                <a:cs typeface="Inter" pitchFamily="34" charset="-120"/>
              </a:rPr>
              <a:t>0.8 teacher corrections per photo, down from 1.1</a:t>
            </a:r>
            <a:endParaRPr lang="en-US" sz="1400" dirty="0"/>
          </a:p>
        </p:txBody>
      </p:sp>
      <p:sp>
        <p:nvSpPr>
          <p:cNvPr id="28" name="Text 25"/>
          <p:cNvSpPr/>
          <p:nvPr/>
        </p:nvSpPr>
        <p:spPr>
          <a:xfrm>
            <a:off x="812800" y="5635327"/>
            <a:ext cx="10883392" cy="232073"/>
          </a:xfrm>
          <a:prstGeom prst="rect">
            <a:avLst/>
          </a:prstGeom>
          <a:noFill/>
          <a:ln/>
        </p:spPr>
        <p:txBody>
          <a:bodyPr wrap="square" lIns="0" tIns="0" rIns="0" bIns="0" rtlCol="0" anchor="t">
            <a:normAutofit/>
          </a:bodyPr>
          <a:lstStyle/>
          <a:p>
            <a:pPr algn="l" indent="0" marL="0">
              <a:lnSpc>
                <a:spcPts val="1672"/>
              </a:lnSpc>
              <a:buNone/>
            </a:pPr>
            <a:r>
              <a:rPr lang="en-US" sz="1194" dirty="0">
                <a:solidFill>
                  <a:srgbClr val="5D5D66"/>
                </a:solidFill>
                <a:latin typeface="Inter" pitchFamily="34" charset="0"/>
                <a:ea typeface="Inter" pitchFamily="34" charset="-122"/>
                <a:cs typeface="Inter" pitchFamily="34" charset="-120"/>
              </a:rPr>
              <a:t>10 real class photos · 804 hand-labelled faces · 15 enrolled students · threshold never tuned on the photo being scored</a:t>
            </a:r>
            <a:endParaRPr lang="en-US" sz="1194" dirty="0"/>
          </a:p>
        </p:txBody>
      </p:sp>
      <p:sp>
        <p:nvSpPr>
          <p:cNvPr id="29" name="Text 26"/>
          <p:cNvSpPr/>
          <p:nvPr/>
        </p:nvSpPr>
        <p:spPr>
          <a:xfrm>
            <a:off x="812800" y="6238249"/>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30" name="Text 27"/>
          <p:cNvSpPr/>
          <p:nvPr/>
        </p:nvSpPr>
        <p:spPr>
          <a:xfrm>
            <a:off x="10058400" y="6238249"/>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EEE9"/>
        </a:solidFill>
      </p:bgPr>
    </p:bg>
    <p:spTree>
      <p:nvGrpSpPr>
        <p:cNvPr id="1" name=""/>
        <p:cNvGrpSpPr/>
        <p:nvPr/>
      </p:nvGrpSpPr>
      <p:grpSpPr>
        <a:xfrm>
          <a:off x="0" y="0"/>
          <a:ext cx="0" cy="0"/>
          <a:chOff x="0" y="0"/>
          <a:chExt cx="0" cy="0"/>
        </a:xfrm>
      </p:grpSpPr>
      <p:sp>
        <p:nvSpPr>
          <p:cNvPr id="2" name="Text 0"/>
          <p:cNvSpPr/>
          <p:nvPr/>
        </p:nvSpPr>
        <p:spPr>
          <a:xfrm>
            <a:off x="812800" y="812800"/>
            <a:ext cx="6148070"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SHINDE RITESH · THE WEB APP</a:t>
            </a:r>
            <a:endParaRPr lang="en-US" sz="1200" dirty="0"/>
          </a:p>
        </p:txBody>
      </p:sp>
      <p:sp>
        <p:nvSpPr>
          <p:cNvPr id="3" name="Text 1"/>
          <p:cNvSpPr/>
          <p:nvPr>
            <p:ph type="title"/>
          </p:nvPr>
        </p:nvSpPr>
        <p:spPr>
          <a:xfrm>
            <a:off x="812800" y="1229358"/>
            <a:ext cx="6148070" cy="843227"/>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181B"/>
                </a:solidFill>
                <a:latin typeface="Inter" pitchFamily="34" charset="0"/>
                <a:ea typeface="Inter" pitchFamily="34" charset="-122"/>
                <a:cs typeface="Inter" pitchFamily="34" charset="-120"/>
              </a:rPr>
              <a:t>The system drafts the register; the teacher confirms it</a:t>
            </a:r>
            <a:endParaRPr lang="en-US" sz="2800" dirty="0"/>
          </a:p>
        </p:txBody>
      </p:sp>
      <p:pic>
        <p:nvPicPr>
          <p:cNvPr id="4" name="Image 0" descr="Teacher course page with attendance per lecture and students below 75%">    </p:cNvPr>
          <p:cNvPicPr>
            <a:picLocks noChangeAspect="1"/>
          </p:cNvPicPr>
          <p:nvPr/>
        </p:nvPicPr>
        <p:blipFill>
          <a:blip r:embed="rId1"/>
          <a:srcRect l="-84" r="-84" t="0" b="0"/>
          <a:stretch/>
        </p:blipFill>
        <p:spPr>
          <a:xfrm>
            <a:off x="819150" y="2256730"/>
            <a:ext cx="5956300" cy="3530600"/>
          </a:xfrm>
          <a:prstGeom prst="roundRect">
            <a:avLst>
              <a:gd name="adj" fmla="val 2698"/>
            </a:avLst>
          </a:prstGeom>
          <a:effectLst>
            <a:outerShdw sx="100000" sy="100000" kx="0" ky="0" algn="bl" rotWithShape="0" blurRad="381000" dist="152400" dir="5400000">
              <a:srgbClr val="000000">
                <a:alpha val="12000"/>
              </a:srgbClr>
            </a:outerShdw>
          </a:effectLst>
        </p:spPr>
      </p:pic>
      <p:sp>
        <p:nvSpPr>
          <p:cNvPr id="5" name="Shape 2"/>
          <p:cNvSpPr/>
          <p:nvPr/>
        </p:nvSpPr>
        <p:spPr>
          <a:xfrm>
            <a:off x="815975" y="2253555"/>
            <a:ext cx="5962650" cy="3536950"/>
          </a:xfrm>
          <a:prstGeom prst="roundRect">
            <a:avLst>
              <a:gd name="adj" fmla="val 2783"/>
            </a:avLst>
          </a:prstGeom>
          <a:noFill/>
          <a:ln w="6350">
            <a:solidFill>
              <a:srgbClr val="D4D2CB"/>
            </a:solidFill>
            <a:prstDash val="solid"/>
          </a:ln>
        </p:spPr>
      </p:sp>
      <p:sp>
        <p:nvSpPr>
          <p:cNvPr id="6" name="Text 3"/>
          <p:cNvSpPr/>
          <p:nvPr/>
        </p:nvSpPr>
        <p:spPr>
          <a:xfrm>
            <a:off x="7239000" y="1422400"/>
            <a:ext cx="42644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181B"/>
                </a:solidFill>
                <a:latin typeface="Inter" pitchFamily="34" charset="0"/>
                <a:ea typeface="Inter" pitchFamily="34" charset="-122"/>
                <a:cs typeface="Inter" pitchFamily="34" charset="-120"/>
              </a:rPr>
              <a:t>1 · Create a course</a:t>
            </a:r>
            <a:endParaRPr lang="en-US" sz="1500" dirty="0"/>
          </a:p>
        </p:txBody>
      </p:sp>
      <p:sp>
        <p:nvSpPr>
          <p:cNvPr id="7" name="Text 4"/>
          <p:cNvSpPr/>
          <p:nvPr/>
        </p:nvSpPr>
        <p:spPr>
          <a:xfrm>
            <a:off x="7239000" y="1689100"/>
            <a:ext cx="426440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Students join with a six-letter code.</a:t>
            </a:r>
            <a:endParaRPr lang="en-US" sz="1300" dirty="0"/>
          </a:p>
        </p:txBody>
      </p:sp>
      <p:sp>
        <p:nvSpPr>
          <p:cNvPr id="8" name="Text 5"/>
          <p:cNvSpPr/>
          <p:nvPr/>
        </p:nvSpPr>
        <p:spPr>
          <a:xfrm>
            <a:off x="7239000" y="2098018"/>
            <a:ext cx="42644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181B"/>
                </a:solidFill>
                <a:latin typeface="Inter" pitchFamily="34" charset="0"/>
                <a:ea typeface="Inter" pitchFamily="34" charset="-122"/>
                <a:cs typeface="Inter" pitchFamily="34" charset="-120"/>
              </a:rPr>
              <a:t>2 · Upload one class photo</a:t>
            </a:r>
            <a:endParaRPr lang="en-US" sz="1500" dirty="0"/>
          </a:p>
        </p:txBody>
      </p:sp>
      <p:sp>
        <p:nvSpPr>
          <p:cNvPr id="9" name="Text 6"/>
          <p:cNvSpPr/>
          <p:nvPr/>
        </p:nvSpPr>
        <p:spPr>
          <a:xfrm>
            <a:off x="7239000" y="2364718"/>
            <a:ext cx="426440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Every face is found and named in about a second on the laptop GPU.</a:t>
            </a:r>
            <a:endParaRPr lang="en-US" sz="1300" dirty="0"/>
          </a:p>
        </p:txBody>
      </p:sp>
      <p:sp>
        <p:nvSpPr>
          <p:cNvPr id="10" name="Text 7"/>
          <p:cNvSpPr/>
          <p:nvPr/>
        </p:nvSpPr>
        <p:spPr>
          <a:xfrm>
            <a:off x="7239000" y="3004741"/>
            <a:ext cx="42644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181B"/>
                </a:solidFill>
                <a:latin typeface="Inter" pitchFamily="34" charset="0"/>
                <a:ea typeface="Inter" pitchFamily="34" charset="-122"/>
                <a:cs typeface="Inter" pitchFamily="34" charset="-120"/>
              </a:rPr>
              <a:t>3 · Review on the photo</a:t>
            </a:r>
            <a:endParaRPr lang="en-US" sz="1500" dirty="0"/>
          </a:p>
        </p:txBody>
      </p:sp>
      <p:sp>
        <p:nvSpPr>
          <p:cNvPr id="11" name="Text 8"/>
          <p:cNvSpPr/>
          <p:nvPr/>
        </p:nvSpPr>
        <p:spPr>
          <a:xfrm>
            <a:off x="7239000" y="3271441"/>
            <a:ext cx="4264406" cy="48762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5803D"/>
                </a:solidFill>
                <a:latin typeface="Inter" pitchFamily="34" charset="0"/>
                <a:ea typeface="Inter" pitchFamily="34" charset="-122"/>
                <a:cs typeface="Inter" pitchFamily="34" charset="-120"/>
              </a:rPr>
              <a:t>Green</a:t>
            </a:r>
            <a:r>
              <a:rPr lang="en-US" sz="1300" dirty="0">
                <a:solidFill>
                  <a:srgbClr val="5D5D66"/>
                </a:solidFill>
                <a:latin typeface="Inter" pitchFamily="34" charset="0"/>
                <a:ea typeface="Inter" pitchFamily="34" charset="-122"/>
                <a:cs typeface="Inter" pitchFamily="34" charset="-120"/>
              </a:rPr>
              <a:t> named, </a:t>
            </a:r>
            <a:r>
              <a:rPr lang="en-US" sz="1300" b="1" dirty="0">
                <a:solidFill>
                  <a:srgbClr val="B45309"/>
                </a:solidFill>
                <a:latin typeface="Inter" pitchFamily="34" charset="0"/>
                <a:ea typeface="Inter" pitchFamily="34" charset="-122"/>
                <a:cs typeface="Inter" pitchFamily="34" charset="-120"/>
              </a:rPr>
              <a:t>amber ?</a:t>
            </a:r>
            <a:r>
              <a:rPr lang="en-US" sz="1300" dirty="0">
                <a:solidFill>
                  <a:srgbClr val="5D5D66"/>
                </a:solidFill>
                <a:latin typeface="Inter" pitchFamily="34" charset="0"/>
                <a:ea typeface="Inter" pitchFamily="34" charset="-122"/>
                <a:cs typeface="Inter" pitchFamily="34" charset="-120"/>
              </a:rPr>
              <a:t> unsure, dashed unknown. Fix any face with a click.</a:t>
            </a:r>
            <a:endParaRPr lang="en-US" sz="1300" dirty="0"/>
          </a:p>
        </p:txBody>
      </p:sp>
      <p:sp>
        <p:nvSpPr>
          <p:cNvPr id="12" name="Text 9"/>
          <p:cNvSpPr/>
          <p:nvPr/>
        </p:nvSpPr>
        <p:spPr>
          <a:xfrm>
            <a:off x="7239000" y="3911470"/>
            <a:ext cx="426440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8181B"/>
                </a:solidFill>
                <a:latin typeface="Inter" pitchFamily="34" charset="0"/>
                <a:ea typeface="Inter" pitchFamily="34" charset="-122"/>
                <a:cs typeface="Inter" pitchFamily="34" charset="-120"/>
              </a:rPr>
              <a:t>4 · Confirm</a:t>
            </a:r>
            <a:endParaRPr lang="en-US" sz="1500" dirty="0"/>
          </a:p>
        </p:txBody>
      </p:sp>
      <p:sp>
        <p:nvSpPr>
          <p:cNvPr id="13" name="Text 10"/>
          <p:cNvSpPr/>
          <p:nvPr/>
        </p:nvSpPr>
        <p:spPr>
          <a:xfrm>
            <a:off x="7239000" y="4178170"/>
            <a:ext cx="426440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The photo is deleted. Insights, edits and CSV export stay.</a:t>
            </a:r>
            <a:endParaRPr lang="en-US" sz="1300" dirty="0"/>
          </a:p>
        </p:txBody>
      </p:sp>
      <p:sp>
        <p:nvSpPr>
          <p:cNvPr id="14" name="Text 11"/>
          <p:cNvSpPr/>
          <p:nvPr/>
        </p:nvSpPr>
        <p:spPr>
          <a:xfrm>
            <a:off x="812800" y="6238249"/>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Django + Django Ninja API · React + TypeScript · SQLite · runs fully offline on one laptop</a:t>
            </a:r>
            <a:endParaRPr lang="en-US" sz="1200" dirty="0"/>
          </a:p>
        </p:txBody>
      </p:sp>
      <p:sp>
        <p:nvSpPr>
          <p:cNvPr id="15" name="Text 12"/>
          <p:cNvSpPr/>
          <p:nvPr/>
        </p:nvSpPr>
        <p:spPr>
          <a:xfrm>
            <a:off x="10058400" y="6238249"/>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EEE9"/>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SHINDE RITESH · STUDENTS AND PRIVACY</a:t>
            </a:r>
            <a:endParaRPr lang="en-US" sz="1200" dirty="0"/>
          </a:p>
        </p:txBody>
      </p:sp>
      <p:sp>
        <p:nvSpPr>
          <p:cNvPr id="3" name="Text 1"/>
          <p:cNvSpPr/>
          <p:nvPr>
            <p:ph type="title"/>
          </p:nvPr>
        </p:nvSpPr>
        <p:spPr>
          <a:xfrm>
            <a:off x="812800" y="1280158"/>
            <a:ext cx="10883392" cy="434314"/>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8181B"/>
                </a:solidFill>
                <a:latin typeface="Inter" pitchFamily="34" charset="0"/>
                <a:ea typeface="Inter" pitchFamily="34" charset="-122"/>
                <a:cs typeface="Inter" pitchFamily="34" charset="-120"/>
              </a:rPr>
              <a:t>Students register themselves; privacy is built in</a:t>
            </a:r>
            <a:endParaRPr lang="en-US" sz="2800" dirty="0"/>
          </a:p>
        </p:txBody>
      </p:sp>
      <p:pic>
        <p:nvPicPr>
          <p:cNvPr id="4" name="Image 0" descr="Face registration wizard with four guided steps">    </p:cNvPr>
          <p:cNvPicPr>
            <a:picLocks noChangeAspect="1"/>
          </p:cNvPicPr>
          <p:nvPr/>
        </p:nvPicPr>
        <p:blipFill>
          <a:blip r:embed="rId1"/>
          <a:srcRect l="-30" r="-30" t="0" b="0"/>
          <a:stretch/>
        </p:blipFill>
        <p:spPr>
          <a:xfrm>
            <a:off x="819150" y="1949419"/>
            <a:ext cx="5575300" cy="3308350"/>
          </a:xfrm>
          <a:prstGeom prst="roundRect">
            <a:avLst>
              <a:gd name="adj" fmla="val 2879"/>
            </a:avLst>
          </a:prstGeom>
          <a:effectLst>
            <a:outerShdw sx="100000" sy="100000" kx="0" ky="0" algn="bl" rotWithShape="0" blurRad="381000" dist="152400" dir="5400000">
              <a:srgbClr val="000000">
                <a:alpha val="18000"/>
              </a:srgbClr>
            </a:outerShdw>
          </a:effectLst>
        </p:spPr>
      </p:pic>
      <p:sp>
        <p:nvSpPr>
          <p:cNvPr id="5" name="Shape 2"/>
          <p:cNvSpPr/>
          <p:nvPr/>
        </p:nvSpPr>
        <p:spPr>
          <a:xfrm>
            <a:off x="815975" y="1946244"/>
            <a:ext cx="5581650" cy="3314700"/>
          </a:xfrm>
          <a:prstGeom prst="roundRect">
            <a:avLst>
              <a:gd name="adj" fmla="val 2969"/>
            </a:avLst>
          </a:prstGeom>
          <a:noFill/>
          <a:ln w="6350">
            <a:solidFill>
              <a:srgbClr val="3F3F46"/>
            </a:solidFill>
            <a:prstDash val="solid"/>
          </a:ln>
        </p:spPr>
      </p:sp>
      <p:sp>
        <p:nvSpPr>
          <p:cNvPr id="6" name="Text 3"/>
          <p:cNvSpPr/>
          <p:nvPr/>
        </p:nvSpPr>
        <p:spPr>
          <a:xfrm>
            <a:off x="6807200" y="1943069"/>
            <a:ext cx="470916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181B"/>
                </a:solidFill>
                <a:latin typeface="Inter" pitchFamily="34" charset="0"/>
                <a:ea typeface="Inter" pitchFamily="34" charset="-122"/>
                <a:cs typeface="Inter" pitchFamily="34" charset="-120"/>
              </a:rPr>
              <a:t>Four guided photos</a:t>
            </a:r>
            <a:endParaRPr lang="en-US" sz="1600" dirty="0"/>
          </a:p>
        </p:txBody>
      </p:sp>
      <p:sp>
        <p:nvSpPr>
          <p:cNvPr id="7" name="Text 4"/>
          <p:cNvSpPr/>
          <p:nvPr/>
        </p:nvSpPr>
        <p:spPr>
          <a:xfrm>
            <a:off x="6807200" y="2263080"/>
            <a:ext cx="4709160"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D5D66"/>
                </a:solidFill>
                <a:latin typeface="Inter" pitchFamily="34" charset="0"/>
                <a:ea typeface="Inter" pitchFamily="34" charset="-122"/>
                <a:cs typeface="Inter" pitchFamily="34" charset="-120"/>
              </a:rPr>
              <a:t>Front, left, right, other light; webcam or file. Each is checked instantly: one face, big enough, sharp, evenly lit, head turned as asked.</a:t>
            </a:r>
            <a:endParaRPr lang="en-US" sz="1300" dirty="0"/>
          </a:p>
        </p:txBody>
      </p:sp>
      <p:sp>
        <p:nvSpPr>
          <p:cNvPr id="8" name="Text 5"/>
          <p:cNvSpPr/>
          <p:nvPr/>
        </p:nvSpPr>
        <p:spPr>
          <a:xfrm>
            <a:off x="6807200" y="3209826"/>
            <a:ext cx="470916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5803D"/>
                </a:solidFill>
                <a:latin typeface="Inter" pitchFamily="34" charset="0"/>
                <a:ea typeface="Inter" pitchFamily="34" charset="-122"/>
                <a:cs typeface="Inter" pitchFamily="34" charset="-120"/>
              </a:rPr>
              <a:t>Signatures, not photos</a:t>
            </a:r>
            <a:endParaRPr lang="en-US" sz="1600" dirty="0"/>
          </a:p>
        </p:txBody>
      </p:sp>
      <p:sp>
        <p:nvSpPr>
          <p:cNvPr id="9" name="Text 6"/>
          <p:cNvSpPr/>
          <p:nvPr/>
        </p:nvSpPr>
        <p:spPr>
          <a:xfrm>
            <a:off x="6807200" y="3529843"/>
            <a:ext cx="4709160"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D5D66"/>
                </a:solidFill>
                <a:latin typeface="Inter" pitchFamily="34" charset="0"/>
                <a:ea typeface="Inter" pitchFamily="34" charset="-122"/>
                <a:cs typeface="Inter" pitchFamily="34" charset="-120"/>
              </a:rPr>
              <a:t>Only face signatures are stored. Class photos are deleted on confirm. Students can delete their data any time. Nothing leaves the laptop.</a:t>
            </a:r>
            <a:endParaRPr lang="en-US" sz="1300" dirty="0"/>
          </a:p>
        </p:txBody>
      </p:sp>
      <p:sp>
        <p:nvSpPr>
          <p:cNvPr id="10" name="Text 7"/>
          <p:cNvSpPr/>
          <p:nvPr/>
        </p:nvSpPr>
        <p:spPr>
          <a:xfrm>
            <a:off x="812800" y="6238249"/>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11" name="Text 8"/>
          <p:cNvSpPr/>
          <p:nvPr/>
        </p:nvSpPr>
        <p:spPr>
          <a:xfrm>
            <a:off x="10058400" y="6238249"/>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10883392" cy="219670"/>
          </a:xfrm>
          <a:prstGeom prst="rect">
            <a:avLst/>
          </a:prstGeom>
          <a:noFill/>
          <a:ln/>
        </p:spPr>
        <p:txBody>
          <a:bodyPr wrap="square" lIns="0" tIns="0" rIns="0" bIns="0" rtlCol="0" anchor="t">
            <a:normAutofit/>
          </a:bodyPr>
          <a:lstStyle/>
          <a:p>
            <a:pPr algn="l" indent="0" marL="0">
              <a:lnSpc>
                <a:spcPts val="1570"/>
              </a:lnSpc>
              <a:buNone/>
            </a:pPr>
            <a:r>
              <a:rPr lang="en-US" sz="1121" spc="100" kern="0" dirty="0">
                <a:solidFill>
                  <a:srgbClr val="15803D"/>
                </a:solidFill>
                <a:latin typeface="JetBrains Mono" pitchFamily="49" charset="0"/>
                <a:ea typeface="JetBrains Mono" pitchFamily="49" charset="-122"/>
                <a:cs typeface="JetBrains Mono" pitchFamily="49" charset="-120"/>
              </a:rPr>
              <a:t>TANISH · SYSTEM ARCHITECTURE</a:t>
            </a:r>
            <a:endParaRPr lang="en-US" sz="1121" dirty="0"/>
          </a:p>
        </p:txBody>
      </p:sp>
      <p:sp>
        <p:nvSpPr>
          <p:cNvPr id="3" name="Text 1"/>
          <p:cNvSpPr/>
          <p:nvPr>
            <p:ph type="title"/>
          </p:nvPr>
        </p:nvSpPr>
        <p:spPr>
          <a:xfrm>
            <a:off x="812800" y="1311870"/>
            <a:ext cx="10883392" cy="450949"/>
          </a:xfrm>
          <a:prstGeom prst="rect">
            <a:avLst/>
          </a:prstGeom>
          <a:noFill/>
          <a:ln/>
        </p:spPr>
        <p:txBody>
          <a:bodyPr wrap="square" lIns="0" tIns="0" rIns="0" bIns="0" rtlCol="0" anchor="t">
            <a:normAutofit/>
          </a:bodyPr>
          <a:lstStyle/>
          <a:p>
            <a:pPr algn="l" indent="0" marL="0">
              <a:lnSpc>
                <a:spcPts val="3370"/>
              </a:lnSpc>
              <a:buNone/>
            </a:pPr>
            <a:r>
              <a:rPr lang="en-US" sz="2930" b="1" i="0" dirty="0">
                <a:solidFill>
                  <a:srgbClr val="18181B"/>
                </a:solidFill>
                <a:latin typeface="Inter" pitchFamily="34" charset="0"/>
                <a:ea typeface="Inter" pitchFamily="34" charset="-122"/>
                <a:cs typeface="Inter" pitchFamily="34" charset="-120"/>
              </a:rPr>
              <a:t>From research code to a working product</a:t>
            </a:r>
            <a:endParaRPr lang="en-US" sz="2930" dirty="0"/>
          </a:p>
        </p:txBody>
      </p:sp>
      <p:sp>
        <p:nvSpPr>
          <p:cNvPr id="4" name="Shape 2"/>
          <p:cNvSpPr/>
          <p:nvPr/>
        </p:nvSpPr>
        <p:spPr>
          <a:xfrm>
            <a:off x="819150" y="2048570"/>
            <a:ext cx="6845300" cy="830527"/>
          </a:xfrm>
          <a:prstGeom prst="roundRect">
            <a:avLst>
              <a:gd name="adj" fmla="val 14527"/>
            </a:avLst>
          </a:prstGeom>
          <a:solidFill>
            <a:srgbClr val="FFFFFF"/>
          </a:solidFill>
          <a:ln w="12700">
            <a:solidFill>
              <a:srgbClr val="D4D2CB"/>
            </a:solidFill>
            <a:prstDash val="solid"/>
          </a:ln>
        </p:spPr>
      </p:sp>
      <p:sp>
        <p:nvSpPr>
          <p:cNvPr id="5" name="Text 3"/>
          <p:cNvSpPr/>
          <p:nvPr/>
        </p:nvSpPr>
        <p:spPr>
          <a:xfrm>
            <a:off x="1054100" y="2207320"/>
            <a:ext cx="656666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181B"/>
                </a:solidFill>
                <a:latin typeface="Inter" pitchFamily="34" charset="0"/>
                <a:ea typeface="Inter" pitchFamily="34" charset="-122"/>
                <a:cs typeface="Inter" pitchFamily="34" charset="-120"/>
              </a:rPr>
              <a:t>React app </a:t>
            </a:r>
            <a:r>
              <a:rPr lang="en-US" sz="1600" b="1" dirty="0">
                <a:solidFill>
                  <a:srgbClr val="5D5D66"/>
                </a:solidFill>
                <a:latin typeface="Inter" pitchFamily="34" charset="0"/>
                <a:ea typeface="Inter" pitchFamily="34" charset="-122"/>
                <a:cs typeface="Inter" pitchFamily="34" charset="-120"/>
              </a:rPr>
              <a:t>· TypeScript</a:t>
            </a:r>
            <a:endParaRPr lang="en-US" sz="1600" dirty="0"/>
          </a:p>
        </p:txBody>
      </p:sp>
      <p:sp>
        <p:nvSpPr>
          <p:cNvPr id="6" name="Text 4"/>
          <p:cNvSpPr/>
          <p:nvPr/>
        </p:nvSpPr>
        <p:spPr>
          <a:xfrm>
            <a:off x="1054100" y="2489237"/>
            <a:ext cx="66040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Review screen: zoomable photo, editable face boxes, one-face-per-student rule</a:t>
            </a:r>
            <a:endParaRPr lang="en-US" sz="1300" dirty="0"/>
          </a:p>
        </p:txBody>
      </p:sp>
      <p:pic>
        <p:nvPicPr>
          <p:cNvPr id="7" name="Image 0" descr="connector">    </p:cNvPr>
          <p:cNvPicPr>
            <a:picLocks noChangeAspect="1"/>
          </p:cNvPicPr>
          <p:nvPr/>
        </p:nvPicPr>
        <p:blipFill>
          <a:blip r:embed="rId1"/>
          <a:srcRect l="0" r="0" t="0" b="0"/>
          <a:stretch/>
        </p:blipFill>
        <p:spPr>
          <a:xfrm>
            <a:off x="4203700" y="2853705"/>
            <a:ext cx="76200" cy="317500"/>
          </a:xfrm>
          <a:prstGeom prst="rect">
            <a:avLst/>
          </a:prstGeom>
        </p:spPr>
      </p:pic>
      <p:sp>
        <p:nvSpPr>
          <p:cNvPr id="8" name="Shape 5"/>
          <p:cNvSpPr/>
          <p:nvPr/>
        </p:nvSpPr>
        <p:spPr>
          <a:xfrm>
            <a:off x="819150" y="3145805"/>
            <a:ext cx="6845300" cy="830527"/>
          </a:xfrm>
          <a:prstGeom prst="roundRect">
            <a:avLst>
              <a:gd name="adj" fmla="val 14527"/>
            </a:avLst>
          </a:prstGeom>
          <a:solidFill>
            <a:srgbClr val="FFFFFF"/>
          </a:solidFill>
          <a:ln w="12700">
            <a:solidFill>
              <a:srgbClr val="D4D2CB"/>
            </a:solidFill>
            <a:prstDash val="solid"/>
          </a:ln>
        </p:spPr>
      </p:sp>
      <p:sp>
        <p:nvSpPr>
          <p:cNvPr id="9" name="Text 6"/>
          <p:cNvSpPr/>
          <p:nvPr/>
        </p:nvSpPr>
        <p:spPr>
          <a:xfrm>
            <a:off x="1054100" y="3304555"/>
            <a:ext cx="656666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8181B"/>
                </a:solidFill>
                <a:latin typeface="Inter" pitchFamily="34" charset="0"/>
                <a:ea typeface="Inter" pitchFamily="34" charset="-122"/>
                <a:cs typeface="Inter" pitchFamily="34" charset="-120"/>
              </a:rPr>
              <a:t>Django JSON API </a:t>
            </a:r>
            <a:r>
              <a:rPr lang="en-US" sz="1600" b="1" dirty="0">
                <a:solidFill>
                  <a:srgbClr val="5D5D66"/>
                </a:solidFill>
                <a:latin typeface="Inter" pitchFamily="34" charset="0"/>
                <a:ea typeface="Inter" pitchFamily="34" charset="-122"/>
                <a:cs typeface="Inter" pitchFamily="34" charset="-120"/>
              </a:rPr>
              <a:t>· typed, CSRF-protected</a:t>
            </a:r>
            <a:endParaRPr lang="en-US" sz="1600" dirty="0"/>
          </a:p>
        </p:txBody>
      </p:sp>
      <p:sp>
        <p:nvSpPr>
          <p:cNvPr id="10" name="Text 7"/>
          <p:cNvSpPr/>
          <p:nvPr/>
        </p:nvSpPr>
        <p:spPr>
          <a:xfrm>
            <a:off x="1054100" y="3586460"/>
            <a:ext cx="656666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5D66"/>
                </a:solidFill>
                <a:latin typeface="Inter" pitchFamily="34" charset="0"/>
                <a:ea typeface="Inter" pitchFamily="34" charset="-122"/>
                <a:cs typeface="Inter" pitchFamily="34" charset="-120"/>
              </a:rPr>
              <a:t>Accounts, courses, lectures, registration checks, attendance</a:t>
            </a:r>
            <a:endParaRPr lang="en-US" sz="1300" dirty="0"/>
          </a:p>
        </p:txBody>
      </p:sp>
      <p:pic>
        <p:nvPicPr>
          <p:cNvPr id="11" name="Image 1" descr="connector">    </p:cNvPr>
          <p:cNvPicPr>
            <a:picLocks noChangeAspect="1"/>
          </p:cNvPicPr>
          <p:nvPr/>
        </p:nvPicPr>
        <p:blipFill>
          <a:blip r:embed="rId2"/>
          <a:srcRect l="0" r="0" t="0" b="0"/>
          <a:stretch/>
        </p:blipFill>
        <p:spPr>
          <a:xfrm>
            <a:off x="4203700" y="3950928"/>
            <a:ext cx="76200" cy="317500"/>
          </a:xfrm>
          <a:prstGeom prst="rect">
            <a:avLst/>
          </a:prstGeom>
        </p:spPr>
      </p:pic>
      <p:sp>
        <p:nvSpPr>
          <p:cNvPr id="12" name="Shape 8"/>
          <p:cNvSpPr/>
          <p:nvPr/>
        </p:nvSpPr>
        <p:spPr>
          <a:xfrm>
            <a:off x="819150" y="4243028"/>
            <a:ext cx="6845300" cy="830527"/>
          </a:xfrm>
          <a:prstGeom prst="roundRect">
            <a:avLst>
              <a:gd name="adj" fmla="val 14527"/>
            </a:avLst>
          </a:prstGeom>
          <a:solidFill>
            <a:srgbClr val="DCFCE7"/>
          </a:solidFill>
          <a:ln w="12700">
            <a:solidFill>
              <a:srgbClr val="15803D"/>
            </a:solidFill>
            <a:prstDash val="solid"/>
          </a:ln>
        </p:spPr>
      </p:sp>
      <p:sp>
        <p:nvSpPr>
          <p:cNvPr id="13" name="Text 9"/>
          <p:cNvSpPr/>
          <p:nvPr/>
        </p:nvSpPr>
        <p:spPr>
          <a:xfrm>
            <a:off x="1054100" y="4401778"/>
            <a:ext cx="656666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532D"/>
                </a:solidFill>
                <a:latin typeface="Inter" pitchFamily="34" charset="0"/>
                <a:ea typeface="Inter" pitchFamily="34" charset="-122"/>
                <a:cs typeface="Inter" pitchFamily="34" charset="-120"/>
              </a:rPr>
              <a:t>Recognition engine · one Python package</a:t>
            </a:r>
            <a:endParaRPr lang="en-US" sz="1600" dirty="0"/>
          </a:p>
        </p:txBody>
      </p:sp>
      <p:sp>
        <p:nvSpPr>
          <p:cNvPr id="14" name="Text 10"/>
          <p:cNvSpPr/>
          <p:nvPr/>
        </p:nvSpPr>
        <p:spPr>
          <a:xfrm>
            <a:off x="1054100" y="4683696"/>
            <a:ext cx="656666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532D"/>
                </a:solidFill>
                <a:latin typeface="Inter" pitchFamily="34" charset="0"/>
                <a:ea typeface="Inter" pitchFamily="34" charset="-122"/>
                <a:cs typeface="Inter" pitchFamily="34" charset="-120"/>
              </a:rPr>
              <a:t>The same code runs every experiment in the report and the live website</a:t>
            </a:r>
            <a:endParaRPr lang="en-US" sz="1300" dirty="0"/>
          </a:p>
        </p:txBody>
      </p:sp>
      <p:sp>
        <p:nvSpPr>
          <p:cNvPr id="15" name="Shape 11"/>
          <p:cNvSpPr/>
          <p:nvPr/>
        </p:nvSpPr>
        <p:spPr>
          <a:xfrm>
            <a:off x="8077200" y="2042220"/>
            <a:ext cx="3302000" cy="2232620"/>
          </a:xfrm>
          <a:prstGeom prst="roundRect">
            <a:avLst>
              <a:gd name="adj" fmla="val 6826"/>
            </a:avLst>
          </a:prstGeom>
          <a:solidFill>
            <a:srgbClr val="141416"/>
          </a:solidFill>
          <a:ln/>
        </p:spPr>
      </p:sp>
      <p:sp>
        <p:nvSpPr>
          <p:cNvPr id="16" name="Text 12"/>
          <p:cNvSpPr/>
          <p:nvPr/>
        </p:nvSpPr>
        <p:spPr>
          <a:xfrm>
            <a:off x="8331200" y="2296220"/>
            <a:ext cx="2877820" cy="9398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4ADE80"/>
                </a:solidFill>
                <a:latin typeface="JetBrains Mono" pitchFamily="49" charset="0"/>
                <a:ea typeface="JetBrains Mono" pitchFamily="49" charset="-122"/>
                <a:cs typeface="JetBrains Mono" pitchFamily="49" charset="-120"/>
              </a:rPr>
              <a:t>6 s → 0.5 s</a:t>
            </a:r>
            <a:endParaRPr lang="en-US" sz="3600" dirty="0"/>
          </a:p>
        </p:txBody>
      </p:sp>
      <p:sp>
        <p:nvSpPr>
          <p:cNvPr id="17" name="Text 13"/>
          <p:cNvSpPr/>
          <p:nvPr/>
        </p:nvSpPr>
        <p:spPr>
          <a:xfrm>
            <a:off x="8331200" y="3274120"/>
            <a:ext cx="287782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4F5"/>
                </a:solidFill>
                <a:latin typeface="Inter" pitchFamily="34" charset="0"/>
                <a:ea typeface="Inter" pitchFamily="34" charset="-122"/>
                <a:cs typeface="Inter" pitchFamily="34" charset="-120"/>
              </a:rPr>
              <a:t>per class photo on the laptop GPU (Apple CoreML), same names as on CPU</a:t>
            </a:r>
            <a:endParaRPr lang="en-US" sz="1400" dirty="0"/>
          </a:p>
        </p:txBody>
      </p:sp>
      <p:sp>
        <p:nvSpPr>
          <p:cNvPr id="18" name="Shape 14"/>
          <p:cNvSpPr/>
          <p:nvPr/>
        </p:nvSpPr>
        <p:spPr>
          <a:xfrm>
            <a:off x="8080375" y="4430415"/>
            <a:ext cx="3295650" cy="1781770"/>
          </a:xfrm>
          <a:prstGeom prst="roundRect">
            <a:avLst>
              <a:gd name="adj" fmla="val 8375"/>
            </a:avLst>
          </a:prstGeom>
          <a:solidFill>
            <a:srgbClr val="FFFFFF"/>
          </a:solidFill>
          <a:ln w="6350">
            <a:solidFill>
              <a:srgbClr val="E3E1DB"/>
            </a:solidFill>
            <a:prstDash val="solid"/>
          </a:ln>
        </p:spPr>
      </p:sp>
      <p:sp>
        <p:nvSpPr>
          <p:cNvPr id="19" name="Text 15"/>
          <p:cNvSpPr/>
          <p:nvPr/>
        </p:nvSpPr>
        <p:spPr>
          <a:xfrm>
            <a:off x="8337550" y="4687590"/>
            <a:ext cx="2864739"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8181B"/>
                </a:solidFill>
                <a:latin typeface="JetBrains Mono" pitchFamily="49" charset="0"/>
                <a:ea typeface="JetBrains Mono" pitchFamily="49" charset="-122"/>
                <a:cs typeface="JetBrains Mono" pitchFamily="49" charset="-120"/>
              </a:rPr>
              <a:t>58 tests</a:t>
            </a:r>
            <a:endParaRPr lang="en-US" sz="3600" dirty="0"/>
          </a:p>
        </p:txBody>
      </p:sp>
      <p:sp>
        <p:nvSpPr>
          <p:cNvPr id="20" name="Text 16"/>
          <p:cNvSpPr/>
          <p:nvPr/>
        </p:nvSpPr>
        <p:spPr>
          <a:xfrm>
            <a:off x="8337550" y="5208290"/>
            <a:ext cx="2864739"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D5D66"/>
                </a:solidFill>
                <a:latin typeface="Inter" pitchFamily="34" charset="0"/>
                <a:ea typeface="Inter" pitchFamily="34" charset="-122"/>
                <a:cs typeface="Inter" pitchFamily="34" charset="-120"/>
              </a:rPr>
              <a:t>run automatically on every push, plus a guard that blocks any face photo from the public repo</a:t>
            </a:r>
            <a:endParaRPr lang="en-US" sz="1400" dirty="0"/>
          </a:p>
        </p:txBody>
      </p:sp>
      <p:sp>
        <p:nvSpPr>
          <p:cNvPr id="21" name="Text 17"/>
          <p:cNvSpPr/>
          <p:nvPr/>
        </p:nvSpPr>
        <p:spPr>
          <a:xfrm>
            <a:off x="812800" y="6238255"/>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22" name="Text 18"/>
          <p:cNvSpPr/>
          <p:nvPr/>
        </p:nvSpPr>
        <p:spPr>
          <a:xfrm>
            <a:off x="10058400" y="6238255"/>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416"/>
        </a:solidFill>
      </p:bgPr>
    </p:bg>
    <p:spTree>
      <p:nvGrpSpPr>
        <p:cNvPr id="1" name=""/>
        <p:cNvGrpSpPr/>
        <p:nvPr/>
      </p:nvGrpSpPr>
      <p:grpSpPr>
        <a:xfrm>
          <a:off x="0" y="0"/>
          <a:ext cx="0" cy="0"/>
          <a:chOff x="0" y="0"/>
          <a:chExt cx="0" cy="0"/>
        </a:xfrm>
      </p:grpSpPr>
      <p:sp>
        <p:nvSpPr>
          <p:cNvPr id="2" name="Text 0"/>
          <p:cNvSpPr/>
          <p:nvPr/>
        </p:nvSpPr>
        <p:spPr>
          <a:xfrm>
            <a:off x="812800" y="1942505"/>
            <a:ext cx="10883392" cy="274307"/>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4ADE80"/>
                </a:solidFill>
                <a:latin typeface="JetBrains Mono" pitchFamily="49" charset="0"/>
                <a:ea typeface="JetBrains Mono" pitchFamily="49" charset="-122"/>
                <a:cs typeface="JetBrains Mono" pitchFamily="49" charset="-120"/>
              </a:rPr>
              <a:t>LIVE DEMO</a:t>
            </a:r>
            <a:endParaRPr lang="en-US" sz="1400" dirty="0"/>
          </a:p>
        </p:txBody>
      </p:sp>
      <p:sp>
        <p:nvSpPr>
          <p:cNvPr id="3" name="Text 1"/>
          <p:cNvSpPr/>
          <p:nvPr>
            <p:ph type="title"/>
          </p:nvPr>
        </p:nvSpPr>
        <p:spPr>
          <a:xfrm>
            <a:off x="812800" y="259782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50" kern="0" dirty="0">
                <a:solidFill>
                  <a:srgbClr val="F4F4F5"/>
                </a:solidFill>
                <a:latin typeface="Inter" pitchFamily="34" charset="0"/>
                <a:ea typeface="Inter" pitchFamily="34" charset="-122"/>
                <a:cs typeface="Inter" pitchFamily="34" charset="-120"/>
              </a:rPr>
              <a:t>Let’s take attendance.</a:t>
            </a:r>
            <a:endParaRPr lang="en-US" sz="6000" dirty="0"/>
          </a:p>
        </p:txBody>
      </p:sp>
      <p:sp>
        <p:nvSpPr>
          <p:cNvPr id="4" name="Shape 2"/>
          <p:cNvSpPr/>
          <p:nvPr/>
        </p:nvSpPr>
        <p:spPr>
          <a:xfrm>
            <a:off x="812800" y="3817020"/>
            <a:ext cx="3386667" cy="0"/>
          </a:xfrm>
          <a:prstGeom prst="line">
            <a:avLst/>
          </a:prstGeom>
          <a:noFill/>
          <a:ln w="25400">
            <a:solidFill>
              <a:srgbClr val="4ADE80"/>
            </a:solidFill>
            <a:prstDash val="solid"/>
          </a:ln>
        </p:spPr>
      </p:sp>
      <p:sp>
        <p:nvSpPr>
          <p:cNvPr id="5" name="Text 3"/>
          <p:cNvSpPr/>
          <p:nvPr/>
        </p:nvSpPr>
        <p:spPr>
          <a:xfrm>
            <a:off x="812800" y="4007520"/>
            <a:ext cx="348826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DE80"/>
                </a:solidFill>
                <a:latin typeface="JetBrains Mono" pitchFamily="49" charset="0"/>
                <a:ea typeface="JetBrains Mono" pitchFamily="49" charset="-122"/>
                <a:cs typeface="JetBrains Mono" pitchFamily="49" charset="-120"/>
              </a:rPr>
              <a:t>01</a:t>
            </a:r>
            <a:endParaRPr lang="en-US" sz="1400" dirty="0"/>
          </a:p>
        </p:txBody>
      </p:sp>
      <p:sp>
        <p:nvSpPr>
          <p:cNvPr id="6" name="Text 4"/>
          <p:cNvSpPr/>
          <p:nvPr/>
        </p:nvSpPr>
        <p:spPr>
          <a:xfrm>
            <a:off x="812800" y="4332622"/>
            <a:ext cx="3488267" cy="608277"/>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4F4F5"/>
                </a:solidFill>
                <a:latin typeface="Inter" pitchFamily="34" charset="0"/>
                <a:ea typeface="Inter" pitchFamily="34" charset="-122"/>
                <a:cs typeface="Inter" pitchFamily="34" charset="-120"/>
              </a:rPr>
              <a:t>A teammate registers live with the webcam</a:t>
            </a:r>
            <a:endParaRPr lang="en-US" sz="1700" dirty="0"/>
          </a:p>
        </p:txBody>
      </p:sp>
      <p:sp>
        <p:nvSpPr>
          <p:cNvPr id="7" name="Shape 5"/>
          <p:cNvSpPr/>
          <p:nvPr/>
        </p:nvSpPr>
        <p:spPr>
          <a:xfrm>
            <a:off x="4402667" y="3817020"/>
            <a:ext cx="3386667" cy="0"/>
          </a:xfrm>
          <a:prstGeom prst="line">
            <a:avLst/>
          </a:prstGeom>
          <a:noFill/>
          <a:ln w="25400">
            <a:solidFill>
              <a:srgbClr val="4ADE80"/>
            </a:solidFill>
            <a:prstDash val="solid"/>
          </a:ln>
        </p:spPr>
      </p:sp>
      <p:sp>
        <p:nvSpPr>
          <p:cNvPr id="8" name="Text 6"/>
          <p:cNvSpPr/>
          <p:nvPr/>
        </p:nvSpPr>
        <p:spPr>
          <a:xfrm>
            <a:off x="4402667" y="4007520"/>
            <a:ext cx="348826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DE80"/>
                </a:solidFill>
                <a:latin typeface="JetBrains Mono" pitchFamily="49" charset="0"/>
                <a:ea typeface="JetBrains Mono" pitchFamily="49" charset="-122"/>
                <a:cs typeface="JetBrains Mono" pitchFamily="49" charset="-120"/>
              </a:rPr>
              <a:t>02</a:t>
            </a:r>
            <a:endParaRPr lang="en-US" sz="1400" dirty="0"/>
          </a:p>
        </p:txBody>
      </p:sp>
      <p:sp>
        <p:nvSpPr>
          <p:cNvPr id="9" name="Text 7"/>
          <p:cNvSpPr/>
          <p:nvPr/>
        </p:nvSpPr>
        <p:spPr>
          <a:xfrm>
            <a:off x="4402667" y="4332622"/>
            <a:ext cx="3488267" cy="608277"/>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4F4F5"/>
                </a:solidFill>
                <a:latin typeface="Inter" pitchFamily="34" charset="0"/>
                <a:ea typeface="Inter" pitchFamily="34" charset="-122"/>
                <a:cs typeface="Inter" pitchFamily="34" charset="-120"/>
              </a:rPr>
              <a:t>The teacher uploads a class photo</a:t>
            </a:r>
            <a:endParaRPr lang="en-US" sz="1700" dirty="0"/>
          </a:p>
        </p:txBody>
      </p:sp>
      <p:sp>
        <p:nvSpPr>
          <p:cNvPr id="10" name="Shape 8"/>
          <p:cNvSpPr/>
          <p:nvPr/>
        </p:nvSpPr>
        <p:spPr>
          <a:xfrm>
            <a:off x="7992534" y="3817020"/>
            <a:ext cx="3386667" cy="0"/>
          </a:xfrm>
          <a:prstGeom prst="line">
            <a:avLst/>
          </a:prstGeom>
          <a:noFill/>
          <a:ln w="25400">
            <a:solidFill>
              <a:srgbClr val="4ADE80"/>
            </a:solidFill>
            <a:prstDash val="solid"/>
          </a:ln>
        </p:spPr>
      </p:sp>
      <p:sp>
        <p:nvSpPr>
          <p:cNvPr id="11" name="Text 9"/>
          <p:cNvSpPr/>
          <p:nvPr/>
        </p:nvSpPr>
        <p:spPr>
          <a:xfrm>
            <a:off x="7992534" y="4007520"/>
            <a:ext cx="3488267"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DE80"/>
                </a:solidFill>
                <a:latin typeface="JetBrains Mono" pitchFamily="49" charset="0"/>
                <a:ea typeface="JetBrains Mono" pitchFamily="49" charset="-122"/>
                <a:cs typeface="JetBrains Mono" pitchFamily="49" charset="-120"/>
              </a:rPr>
              <a:t>03</a:t>
            </a:r>
            <a:endParaRPr lang="en-US" sz="1400" dirty="0"/>
          </a:p>
        </p:txBody>
      </p:sp>
      <p:sp>
        <p:nvSpPr>
          <p:cNvPr id="12" name="Text 10"/>
          <p:cNvSpPr/>
          <p:nvPr/>
        </p:nvSpPr>
        <p:spPr>
          <a:xfrm>
            <a:off x="7992534" y="4332622"/>
            <a:ext cx="3488267" cy="316839"/>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4F4F5"/>
                </a:solidFill>
                <a:latin typeface="Inter" pitchFamily="34" charset="0"/>
                <a:ea typeface="Inter" pitchFamily="34" charset="-122"/>
                <a:cs typeface="Inter" pitchFamily="34" charset="-120"/>
              </a:rPr>
              <a:t>Review, fix one face, confirm</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5803D"/>
                </a:solidFill>
                <a:latin typeface="JetBrains Mono" pitchFamily="49" charset="0"/>
                <a:ea typeface="JetBrains Mono" pitchFamily="49" charset="-122"/>
                <a:cs typeface="JetBrains Mono" pitchFamily="49" charset="-120"/>
              </a:rPr>
              <a:t>TANISH · LIMITATIONS AND NEXT STEPS</a:t>
            </a:r>
            <a:endParaRPr lang="en-US" sz="1200" dirty="0"/>
          </a:p>
        </p:txBody>
      </p:sp>
      <p:sp>
        <p:nvSpPr>
          <p:cNvPr id="3" name="Text 1"/>
          <p:cNvSpPr/>
          <p:nvPr>
            <p:ph type="title"/>
          </p:nvPr>
        </p:nvSpPr>
        <p:spPr>
          <a:xfrm>
            <a:off x="812800" y="1381758"/>
            <a:ext cx="10883392" cy="492753"/>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8181B"/>
                </a:solidFill>
                <a:latin typeface="Inter" pitchFamily="34" charset="0"/>
                <a:ea typeface="Inter" pitchFamily="34" charset="-122"/>
                <a:cs typeface="Inter" pitchFamily="34" charset="-120"/>
              </a:rPr>
              <a:t>What we would do with more time</a:t>
            </a:r>
            <a:endParaRPr lang="en-US" sz="3200" dirty="0"/>
          </a:p>
        </p:txBody>
      </p:sp>
      <p:sp>
        <p:nvSpPr>
          <p:cNvPr id="4" name="Shape 2"/>
          <p:cNvSpPr/>
          <p:nvPr/>
        </p:nvSpPr>
        <p:spPr>
          <a:xfrm>
            <a:off x="815975" y="2207890"/>
            <a:ext cx="5124450" cy="3630943"/>
          </a:xfrm>
          <a:prstGeom prst="roundRect">
            <a:avLst>
              <a:gd name="adj" fmla="val 4110"/>
            </a:avLst>
          </a:prstGeom>
          <a:solidFill>
            <a:srgbClr val="FFFFFF"/>
          </a:solidFill>
          <a:ln w="6350">
            <a:solidFill>
              <a:srgbClr val="E3E1DB"/>
            </a:solidFill>
            <a:prstDash val="solid"/>
          </a:ln>
        </p:spPr>
      </p:sp>
      <p:sp>
        <p:nvSpPr>
          <p:cNvPr id="5" name="Text 3"/>
          <p:cNvSpPr/>
          <p:nvPr/>
        </p:nvSpPr>
        <p:spPr>
          <a:xfrm>
            <a:off x="1123950" y="2515865"/>
            <a:ext cx="464375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181B"/>
                </a:solidFill>
                <a:latin typeface="Inter" pitchFamily="34" charset="0"/>
                <a:ea typeface="Inter" pitchFamily="34" charset="-122"/>
                <a:cs typeface="Inter" pitchFamily="34" charset="-120"/>
              </a:rPr>
              <a:t>Limitations</a:t>
            </a:r>
            <a:endParaRPr lang="en-US" sz="1800" dirty="0"/>
          </a:p>
        </p:txBody>
      </p:sp>
      <p:sp>
        <p:nvSpPr>
          <p:cNvPr id="6" name="Text 4"/>
          <p:cNvSpPr/>
          <p:nvPr/>
        </p:nvSpPr>
        <p:spPr>
          <a:xfrm>
            <a:off x="1123950" y="2942568"/>
            <a:ext cx="4643755" cy="28320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Small test set: 15 enrolled students, 10 photos.</a:t>
            </a:r>
            <a:endParaRPr lang="en-US" sz="1400" dirty="0"/>
          </a:p>
        </p:txBody>
      </p:sp>
      <p:sp>
        <p:nvSpPr>
          <p:cNvPr id="7" name="Text 5"/>
          <p:cNvSpPr/>
          <p:nvPr/>
        </p:nvSpPr>
        <p:spPr>
          <a:xfrm>
            <a:off x="1123950" y="3352775"/>
            <a:ext cx="4643755"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Faces under about 25 px are still missed or unrecognised.</a:t>
            </a:r>
            <a:endParaRPr lang="en-US" sz="1400" dirty="0"/>
          </a:p>
        </p:txBody>
      </p:sp>
      <p:sp>
        <p:nvSpPr>
          <p:cNvPr id="8" name="Text 6"/>
          <p:cNvSpPr/>
          <p:nvPr/>
        </p:nvSpPr>
        <p:spPr>
          <a:xfrm>
            <a:off x="1123950" y="4020778"/>
            <a:ext cx="4643755" cy="28320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Lookalikes need a teacher’s check.</a:t>
            </a:r>
            <a:endParaRPr lang="en-US" sz="1400" dirty="0"/>
          </a:p>
        </p:txBody>
      </p:sp>
      <p:sp>
        <p:nvSpPr>
          <p:cNvPr id="9" name="Text 7"/>
          <p:cNvSpPr/>
          <p:nvPr/>
        </p:nvSpPr>
        <p:spPr>
          <a:xfrm>
            <a:off x="1123950" y="4430985"/>
            <a:ext cx="4643755"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Face boxes were labelled starting from one of the tested detectors.</a:t>
            </a:r>
            <a:endParaRPr lang="en-US" sz="1400" dirty="0"/>
          </a:p>
        </p:txBody>
      </p:sp>
      <p:sp>
        <p:nvSpPr>
          <p:cNvPr id="10" name="Shape 8"/>
          <p:cNvSpPr/>
          <p:nvPr/>
        </p:nvSpPr>
        <p:spPr>
          <a:xfrm>
            <a:off x="6251575" y="2207890"/>
            <a:ext cx="5124450" cy="3630943"/>
          </a:xfrm>
          <a:prstGeom prst="roundRect">
            <a:avLst>
              <a:gd name="adj" fmla="val 4110"/>
            </a:avLst>
          </a:prstGeom>
          <a:solidFill>
            <a:srgbClr val="FFFFFF"/>
          </a:solidFill>
          <a:ln w="6350">
            <a:solidFill>
              <a:srgbClr val="E3E1DB"/>
            </a:solidFill>
            <a:prstDash val="solid"/>
          </a:ln>
        </p:spPr>
      </p:sp>
      <p:sp>
        <p:nvSpPr>
          <p:cNvPr id="11" name="Text 9"/>
          <p:cNvSpPr/>
          <p:nvPr/>
        </p:nvSpPr>
        <p:spPr>
          <a:xfrm>
            <a:off x="6559550" y="2515865"/>
            <a:ext cx="464375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5803D"/>
                </a:solidFill>
                <a:latin typeface="Inter" pitchFamily="34" charset="0"/>
                <a:ea typeface="Inter" pitchFamily="34" charset="-122"/>
                <a:cs typeface="Inter" pitchFamily="34" charset="-120"/>
              </a:rPr>
              <a:t>Next steps</a:t>
            </a:r>
            <a:endParaRPr lang="en-US" sz="1800" dirty="0"/>
          </a:p>
        </p:txBody>
      </p:sp>
      <p:sp>
        <p:nvSpPr>
          <p:cNvPr id="12" name="Text 10"/>
          <p:cNvSpPr/>
          <p:nvPr/>
        </p:nvSpPr>
        <p:spPr>
          <a:xfrm>
            <a:off x="6559550" y="2942568"/>
            <a:ext cx="4643755" cy="28320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Enroll the whole class and test on more lectures.</a:t>
            </a:r>
            <a:endParaRPr lang="en-US" sz="1400" dirty="0"/>
          </a:p>
        </p:txBody>
      </p:sp>
      <p:sp>
        <p:nvSpPr>
          <p:cNvPr id="13" name="Text 11"/>
          <p:cNvSpPr/>
          <p:nvPr/>
        </p:nvSpPr>
        <p:spPr>
          <a:xfrm>
            <a:off x="6559550" y="3352775"/>
            <a:ext cx="4643755"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Learn from confirmed attendance: add each confirmed classroom face to the student’s gallery.</a:t>
            </a:r>
            <a:endParaRPr lang="en-US" sz="1400" dirty="0"/>
          </a:p>
        </p:txBody>
      </p:sp>
      <p:sp>
        <p:nvSpPr>
          <p:cNvPr id="14" name="Text 12"/>
          <p:cNvSpPr/>
          <p:nvPr/>
        </p:nvSpPr>
        <p:spPr>
          <a:xfrm>
            <a:off x="6559550" y="4020778"/>
            <a:ext cx="4643755" cy="28320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Fit calibration on classroom faces instead of LFW.</a:t>
            </a:r>
            <a:endParaRPr lang="en-US" sz="1400" dirty="0"/>
          </a:p>
        </p:txBody>
      </p:sp>
      <p:sp>
        <p:nvSpPr>
          <p:cNvPr id="15" name="Text 13"/>
          <p:cNvSpPr/>
          <p:nvPr/>
        </p:nvSpPr>
        <p:spPr>
          <a:xfrm>
            <a:off x="6559550" y="4430985"/>
            <a:ext cx="4643755"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D5D66"/>
                </a:solidFill>
                <a:latin typeface="Inter" pitchFamily="34" charset="0"/>
                <a:ea typeface="Inter" pitchFamily="34" charset="-122"/>
                <a:cs typeface="Inter" pitchFamily="34" charset="-120"/>
              </a:rPr>
              <a:t>Use seating patterns across lectures as extra evidence.</a:t>
            </a:r>
            <a:endParaRPr lang="en-US" sz="1400" dirty="0"/>
          </a:p>
        </p:txBody>
      </p:sp>
      <p:sp>
        <p:nvSpPr>
          <p:cNvPr id="16" name="Text 14"/>
          <p:cNvSpPr/>
          <p:nvPr/>
        </p:nvSpPr>
        <p:spPr>
          <a:xfrm>
            <a:off x="812800" y="6238255"/>
            <a:ext cx="7848600"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9AA3"/>
                </a:solidFill>
                <a:latin typeface="Inter" pitchFamily="34" charset="0"/>
                <a:ea typeface="Inter" pitchFamily="34" charset="-122"/>
                <a:cs typeface="Inter" pitchFamily="34" charset="-120"/>
              </a:rPr>
              <a:t>QuickPic · Team 25</a:t>
            </a:r>
            <a:endParaRPr lang="en-US" sz="1200" dirty="0"/>
          </a:p>
        </p:txBody>
      </p:sp>
      <p:sp>
        <p:nvSpPr>
          <p:cNvPr id="17" name="Text 15"/>
          <p:cNvSpPr/>
          <p:nvPr/>
        </p:nvSpPr>
        <p:spPr>
          <a:xfrm>
            <a:off x="10058400" y="6238255"/>
            <a:ext cx="1320800" cy="238753"/>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9AA3"/>
                </a:solidFill>
                <a:latin typeface="JetBrains Mono" pitchFamily="49" charset="0"/>
                <a:ea typeface="JetBrains Mono" pitchFamily="49" charset="-122"/>
                <a:cs typeface="JetBrains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41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5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DE80"/>
                </a:solidFill>
                <a:latin typeface="JetBrains Mono" pitchFamily="49" charset="0"/>
                <a:ea typeface="JetBrains Mono" pitchFamily="49" charset="-122"/>
                <a:cs typeface="JetBrains Mono" pitchFamily="49" charset="-120"/>
              </a:rPr>
              <a:t>TEAM 25 · WHO DID WHAT</a:t>
            </a:r>
            <a:endParaRPr lang="en-US" sz="1200" dirty="0"/>
          </a:p>
        </p:txBody>
      </p:sp>
      <p:sp>
        <p:nvSpPr>
          <p:cNvPr id="3" name="Text 1"/>
          <p:cNvSpPr/>
          <p:nvPr>
            <p:ph type="title"/>
          </p:nvPr>
        </p:nvSpPr>
        <p:spPr>
          <a:xfrm>
            <a:off x="812800" y="1178558"/>
            <a:ext cx="10883392"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F4F4F5"/>
                </a:solidFill>
                <a:latin typeface="Inter" pitchFamily="34" charset="0"/>
                <a:ea typeface="Inter" pitchFamily="34" charset="-122"/>
                <a:cs typeface="Inter" pitchFamily="34" charset="-120"/>
              </a:rPr>
              <a:t>Thank you. Questions?</a:t>
            </a:r>
            <a:endParaRPr lang="en-US" sz="4800" dirty="0"/>
          </a:p>
        </p:txBody>
      </p:sp>
      <p:sp>
        <p:nvSpPr>
          <p:cNvPr id="4" name="Shape 2"/>
          <p:cNvSpPr/>
          <p:nvPr/>
        </p:nvSpPr>
        <p:spPr>
          <a:xfrm>
            <a:off x="812800" y="2576947"/>
            <a:ext cx="2527300" cy="2478848"/>
          </a:xfrm>
          <a:prstGeom prst="roundRect">
            <a:avLst>
              <a:gd name="adj" fmla="val 5123"/>
            </a:avLst>
          </a:prstGeom>
          <a:solidFill>
            <a:srgbClr val="1F1F23"/>
          </a:solidFill>
          <a:ln/>
        </p:spPr>
      </p:sp>
      <p:sp>
        <p:nvSpPr>
          <p:cNvPr id="5" name="Shape 3"/>
          <p:cNvSpPr/>
          <p:nvPr/>
        </p:nvSpPr>
        <p:spPr>
          <a:xfrm>
            <a:off x="812800" y="2576947"/>
            <a:ext cx="2527300" cy="2478848"/>
          </a:xfrm>
          <a:custGeom>
            <a:avLst/>
            <a:gdLst/>
            <a:ahLst/>
            <a:cxnLst/>
            <a:rect l="l" t="t" r="r" b="b"/>
            <a:pathLst>
              <a:path w="2527300" h="2478848">
                <a:moveTo>
                  <a:pt x="0" y="127000"/>
                </a:moveTo>
                <a:lnTo>
                  <a:pt x="0" y="127000"/>
                </a:lnTo>
                <a:arcTo hR="127000" wR="127000" stAng="10800000" swAng="5400000"/>
                <a:lnTo>
                  <a:pt x="2400300" y="0"/>
                </a:lnTo>
                <a:arcTo hR="127000" wR="127000" stAng="16200000" swAng="5400000"/>
                <a:lnTo>
                  <a:pt x="2527300" y="127000"/>
                </a:lnTo>
                <a:arcTo hR="101600" wR="127000" stAng="0" swAng="-5400000"/>
                <a:lnTo>
                  <a:pt x="127000" y="25400"/>
                </a:lnTo>
                <a:arcTo hR="101600" wR="127000" stAng="16200000" swAng="-5400000"/>
                <a:close/>
              </a:path>
            </a:pathLst>
          </a:custGeom>
          <a:solidFill>
            <a:srgbClr val="4ADE80"/>
          </a:solidFill>
          <a:ln/>
        </p:spPr>
      </p:sp>
      <p:sp>
        <p:nvSpPr>
          <p:cNvPr id="6" name="Text 4"/>
          <p:cNvSpPr/>
          <p:nvPr/>
        </p:nvSpPr>
        <p:spPr>
          <a:xfrm>
            <a:off x="1041400" y="2830947"/>
            <a:ext cx="21322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4F5"/>
                </a:solidFill>
                <a:latin typeface="Inter" pitchFamily="34" charset="0"/>
                <a:ea typeface="Inter" pitchFamily="34" charset="-122"/>
                <a:cs typeface="Inter" pitchFamily="34" charset="-120"/>
              </a:rPr>
              <a:t>Tanish Mittal</a:t>
            </a:r>
            <a:endParaRPr lang="en-US" sz="1600" dirty="0"/>
          </a:p>
        </p:txBody>
      </p:sp>
      <p:sp>
        <p:nvSpPr>
          <p:cNvPr id="7" name="Text 5"/>
          <p:cNvSpPr/>
          <p:nvPr/>
        </p:nvSpPr>
        <p:spPr>
          <a:xfrm>
            <a:off x="1041400" y="3150964"/>
            <a:ext cx="2132203"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A"/>
                </a:solidFill>
                <a:latin typeface="JetBrains Mono" pitchFamily="49" charset="0"/>
                <a:ea typeface="JetBrains Mono" pitchFamily="49" charset="-122"/>
                <a:cs typeface="JetBrains Mono" pitchFamily="49" charset="-120"/>
              </a:rPr>
              <a:t>20233288 · lead</a:t>
            </a:r>
            <a:endParaRPr lang="en-US" sz="1200" dirty="0"/>
          </a:p>
        </p:txBody>
      </p:sp>
      <p:sp>
        <p:nvSpPr>
          <p:cNvPr id="8" name="Text 6"/>
          <p:cNvSpPr/>
          <p:nvPr/>
        </p:nvSpPr>
        <p:spPr>
          <a:xfrm>
            <a:off x="1041400" y="3440509"/>
            <a:ext cx="2132203" cy="14120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4D4D8"/>
                </a:solidFill>
                <a:latin typeface="Inter" pitchFamily="34" charset="0"/>
                <a:ea typeface="Inter" pitchFamily="34" charset="-122"/>
                <a:cs typeface="Inter" pitchFamily="34" charset="-120"/>
              </a:rPr>
              <a:t>System design, recognition engine, website architecture and review screen, GPU speed-up, evaluation, report</a:t>
            </a:r>
            <a:endParaRPr lang="en-US" sz="1300" dirty="0"/>
          </a:p>
        </p:txBody>
      </p:sp>
      <p:sp>
        <p:nvSpPr>
          <p:cNvPr id="9" name="Shape 7"/>
          <p:cNvSpPr/>
          <p:nvPr/>
        </p:nvSpPr>
        <p:spPr>
          <a:xfrm>
            <a:off x="3492500" y="2576947"/>
            <a:ext cx="2527300" cy="2478848"/>
          </a:xfrm>
          <a:prstGeom prst="roundRect">
            <a:avLst>
              <a:gd name="adj" fmla="val 5123"/>
            </a:avLst>
          </a:prstGeom>
          <a:solidFill>
            <a:srgbClr val="1F1F23"/>
          </a:solidFill>
          <a:ln/>
        </p:spPr>
      </p:sp>
      <p:sp>
        <p:nvSpPr>
          <p:cNvPr id="10" name="Shape 8"/>
          <p:cNvSpPr/>
          <p:nvPr/>
        </p:nvSpPr>
        <p:spPr>
          <a:xfrm>
            <a:off x="3492500" y="2576947"/>
            <a:ext cx="2527300" cy="2478848"/>
          </a:xfrm>
          <a:custGeom>
            <a:avLst/>
            <a:gdLst/>
            <a:ahLst/>
            <a:cxnLst/>
            <a:rect l="l" t="t" r="r" b="b"/>
            <a:pathLst>
              <a:path w="2527300" h="2478848">
                <a:moveTo>
                  <a:pt x="0" y="127000"/>
                </a:moveTo>
                <a:lnTo>
                  <a:pt x="0" y="127000"/>
                </a:lnTo>
                <a:arcTo hR="127000" wR="127000" stAng="10800000" swAng="5400000"/>
                <a:lnTo>
                  <a:pt x="2400300" y="0"/>
                </a:lnTo>
                <a:arcTo hR="127000" wR="127000" stAng="16200000" swAng="5400000"/>
                <a:lnTo>
                  <a:pt x="2527300" y="127000"/>
                </a:lnTo>
                <a:arcTo hR="101600" wR="127000" stAng="0" swAng="-5400000"/>
                <a:lnTo>
                  <a:pt x="127000" y="25400"/>
                </a:lnTo>
                <a:arcTo hR="101600" wR="127000" stAng="16200000" swAng="-5400000"/>
                <a:close/>
              </a:path>
            </a:pathLst>
          </a:custGeom>
          <a:solidFill>
            <a:srgbClr val="4ADE80"/>
          </a:solidFill>
          <a:ln/>
        </p:spPr>
      </p:sp>
      <p:sp>
        <p:nvSpPr>
          <p:cNvPr id="11" name="Text 9"/>
          <p:cNvSpPr/>
          <p:nvPr/>
        </p:nvSpPr>
        <p:spPr>
          <a:xfrm>
            <a:off x="3721100" y="2830947"/>
            <a:ext cx="22987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4F5"/>
                </a:solidFill>
                <a:latin typeface="Inter" pitchFamily="34" charset="0"/>
                <a:ea typeface="Inter" pitchFamily="34" charset="-122"/>
                <a:cs typeface="Inter" pitchFamily="34" charset="-120"/>
              </a:rPr>
              <a:t>Shashank Kanaujiya</a:t>
            </a:r>
            <a:endParaRPr lang="en-US" sz="1600" dirty="0"/>
          </a:p>
        </p:txBody>
      </p:sp>
      <p:sp>
        <p:nvSpPr>
          <p:cNvPr id="12" name="Text 10"/>
          <p:cNvSpPr/>
          <p:nvPr/>
        </p:nvSpPr>
        <p:spPr>
          <a:xfrm>
            <a:off x="3721100" y="3150964"/>
            <a:ext cx="2132203"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A"/>
                </a:solidFill>
                <a:latin typeface="JetBrains Mono" pitchFamily="49" charset="0"/>
                <a:ea typeface="JetBrains Mono" pitchFamily="49" charset="-122"/>
                <a:cs typeface="JetBrains Mono" pitchFamily="49" charset="-120"/>
              </a:rPr>
              <a:t>20233259</a:t>
            </a:r>
            <a:endParaRPr lang="en-US" sz="1200" dirty="0"/>
          </a:p>
        </p:txBody>
      </p:sp>
      <p:sp>
        <p:nvSpPr>
          <p:cNvPr id="13" name="Text 11"/>
          <p:cNvSpPr/>
          <p:nvPr/>
        </p:nvSpPr>
        <p:spPr>
          <a:xfrm>
            <a:off x="3721100" y="3440509"/>
            <a:ext cx="2132203" cy="1180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4D4D8"/>
                </a:solidFill>
                <a:latin typeface="Inter" pitchFamily="34" charset="0"/>
                <a:ea typeface="Inter" pitchFamily="34" charset="-122"/>
                <a:cs typeface="Inter" pitchFamily="34" charset="-120"/>
              </a:rPr>
              <a:t>Face detection, tiling, detector comparison, labelling tool and ground truth, alignment, image-quality checks</a:t>
            </a:r>
            <a:endParaRPr lang="en-US" sz="1300" dirty="0"/>
          </a:p>
        </p:txBody>
      </p:sp>
      <p:sp>
        <p:nvSpPr>
          <p:cNvPr id="14" name="Shape 12"/>
          <p:cNvSpPr/>
          <p:nvPr/>
        </p:nvSpPr>
        <p:spPr>
          <a:xfrm>
            <a:off x="6172200" y="2576947"/>
            <a:ext cx="2527300" cy="2478848"/>
          </a:xfrm>
          <a:prstGeom prst="roundRect">
            <a:avLst>
              <a:gd name="adj" fmla="val 5123"/>
            </a:avLst>
          </a:prstGeom>
          <a:solidFill>
            <a:srgbClr val="1F1F23"/>
          </a:solidFill>
          <a:ln/>
        </p:spPr>
      </p:sp>
      <p:sp>
        <p:nvSpPr>
          <p:cNvPr id="15" name="Shape 13"/>
          <p:cNvSpPr/>
          <p:nvPr/>
        </p:nvSpPr>
        <p:spPr>
          <a:xfrm>
            <a:off x="6172200" y="2576947"/>
            <a:ext cx="2527300" cy="2478848"/>
          </a:xfrm>
          <a:custGeom>
            <a:avLst/>
            <a:gdLst/>
            <a:ahLst/>
            <a:cxnLst/>
            <a:rect l="l" t="t" r="r" b="b"/>
            <a:pathLst>
              <a:path w="2527300" h="2478848">
                <a:moveTo>
                  <a:pt x="0" y="127000"/>
                </a:moveTo>
                <a:lnTo>
                  <a:pt x="0" y="127000"/>
                </a:lnTo>
                <a:arcTo hR="127000" wR="127000" stAng="10800000" swAng="5400000"/>
                <a:lnTo>
                  <a:pt x="2400300" y="0"/>
                </a:lnTo>
                <a:arcTo hR="127000" wR="127000" stAng="16200000" swAng="5400000"/>
                <a:lnTo>
                  <a:pt x="2527300" y="127000"/>
                </a:lnTo>
                <a:arcTo hR="101600" wR="127000" stAng="0" swAng="-5400000"/>
                <a:lnTo>
                  <a:pt x="127000" y="25400"/>
                </a:lnTo>
                <a:arcTo hR="101600" wR="127000" stAng="16200000" swAng="-5400000"/>
                <a:close/>
              </a:path>
            </a:pathLst>
          </a:custGeom>
          <a:solidFill>
            <a:srgbClr val="4ADE80"/>
          </a:solidFill>
          <a:ln/>
        </p:spPr>
      </p:sp>
      <p:sp>
        <p:nvSpPr>
          <p:cNvPr id="16" name="Text 14"/>
          <p:cNvSpPr/>
          <p:nvPr/>
        </p:nvSpPr>
        <p:spPr>
          <a:xfrm>
            <a:off x="6400800" y="2830947"/>
            <a:ext cx="2132203"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4F5"/>
                </a:solidFill>
                <a:latin typeface="Inter" pitchFamily="34" charset="0"/>
                <a:ea typeface="Inter" pitchFamily="34" charset="-122"/>
                <a:cs typeface="Inter" pitchFamily="34" charset="-120"/>
              </a:rPr>
              <a:t>Utkarsh Raj Singh</a:t>
            </a:r>
            <a:endParaRPr lang="en-US" sz="1600" dirty="0"/>
          </a:p>
        </p:txBody>
      </p:sp>
      <p:sp>
        <p:nvSpPr>
          <p:cNvPr id="17" name="Text 15"/>
          <p:cNvSpPr/>
          <p:nvPr/>
        </p:nvSpPr>
        <p:spPr>
          <a:xfrm>
            <a:off x="6400800" y="3150964"/>
            <a:ext cx="2132203"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A"/>
                </a:solidFill>
                <a:latin typeface="JetBrains Mono" pitchFamily="49" charset="0"/>
                <a:ea typeface="JetBrains Mono" pitchFamily="49" charset="-122"/>
                <a:cs typeface="JetBrains Mono" pitchFamily="49" charset="-120"/>
              </a:rPr>
              <a:t>20233298</a:t>
            </a:r>
            <a:endParaRPr lang="en-US" sz="1200" dirty="0"/>
          </a:p>
        </p:txBody>
      </p:sp>
      <p:sp>
        <p:nvSpPr>
          <p:cNvPr id="18" name="Text 16"/>
          <p:cNvSpPr/>
          <p:nvPr/>
        </p:nvSpPr>
        <p:spPr>
          <a:xfrm>
            <a:off x="6400800" y="3440509"/>
            <a:ext cx="2132203" cy="118096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4D4D8"/>
                </a:solidFill>
                <a:latin typeface="Inter" pitchFamily="34" charset="0"/>
                <a:ea typeface="Inter" pitchFamily="34" charset="-122"/>
                <a:cs typeface="Inter" pitchFamily="34" charset="-120"/>
              </a:rPr>
              <a:t>Datasets and evaluation protocol, public benchmarks, face-model comparison, calibration study</a:t>
            </a:r>
            <a:endParaRPr lang="en-US" sz="1300" dirty="0"/>
          </a:p>
        </p:txBody>
      </p:sp>
      <p:sp>
        <p:nvSpPr>
          <p:cNvPr id="19" name="Shape 17"/>
          <p:cNvSpPr/>
          <p:nvPr/>
        </p:nvSpPr>
        <p:spPr>
          <a:xfrm>
            <a:off x="8851900" y="2576947"/>
            <a:ext cx="2527300" cy="2478848"/>
          </a:xfrm>
          <a:prstGeom prst="roundRect">
            <a:avLst>
              <a:gd name="adj" fmla="val 5123"/>
            </a:avLst>
          </a:prstGeom>
          <a:solidFill>
            <a:srgbClr val="1F1F23"/>
          </a:solidFill>
          <a:ln/>
        </p:spPr>
      </p:sp>
      <p:sp>
        <p:nvSpPr>
          <p:cNvPr id="20" name="Shape 18"/>
          <p:cNvSpPr/>
          <p:nvPr/>
        </p:nvSpPr>
        <p:spPr>
          <a:xfrm>
            <a:off x="8851900" y="2576947"/>
            <a:ext cx="2527300" cy="2478848"/>
          </a:xfrm>
          <a:custGeom>
            <a:avLst/>
            <a:gdLst/>
            <a:ahLst/>
            <a:cxnLst/>
            <a:rect l="l" t="t" r="r" b="b"/>
            <a:pathLst>
              <a:path w="2527300" h="2478848">
                <a:moveTo>
                  <a:pt x="0" y="127000"/>
                </a:moveTo>
                <a:lnTo>
                  <a:pt x="0" y="127000"/>
                </a:lnTo>
                <a:arcTo hR="127000" wR="127000" stAng="10800000" swAng="5400000"/>
                <a:lnTo>
                  <a:pt x="2400300" y="0"/>
                </a:lnTo>
                <a:arcTo hR="127000" wR="127000" stAng="16200000" swAng="5400000"/>
                <a:lnTo>
                  <a:pt x="2527300" y="127000"/>
                </a:lnTo>
                <a:arcTo hR="101600" wR="127000" stAng="0" swAng="-5400000"/>
                <a:lnTo>
                  <a:pt x="127000" y="25400"/>
                </a:lnTo>
                <a:arcTo hR="101600" wR="127000" stAng="16200000" swAng="-5400000"/>
                <a:close/>
              </a:path>
            </a:pathLst>
          </a:custGeom>
          <a:solidFill>
            <a:srgbClr val="4ADE80"/>
          </a:solidFill>
          <a:ln/>
        </p:spPr>
      </p:sp>
      <p:sp>
        <p:nvSpPr>
          <p:cNvPr id="21" name="Text 19"/>
          <p:cNvSpPr/>
          <p:nvPr/>
        </p:nvSpPr>
        <p:spPr>
          <a:xfrm>
            <a:off x="9080500" y="2830947"/>
            <a:ext cx="2132203" cy="51302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4F4F5"/>
                </a:solidFill>
                <a:latin typeface="Inter" pitchFamily="34" charset="0"/>
                <a:ea typeface="Inter" pitchFamily="34" charset="-122"/>
                <a:cs typeface="Inter" pitchFamily="34" charset="-120"/>
              </a:rPr>
              <a:t>Shinde Ritesh Tirupati</a:t>
            </a:r>
            <a:endParaRPr lang="en-US" sz="1600" dirty="0"/>
          </a:p>
        </p:txBody>
      </p:sp>
      <p:sp>
        <p:nvSpPr>
          <p:cNvPr id="22" name="Text 20"/>
          <p:cNvSpPr/>
          <p:nvPr/>
        </p:nvSpPr>
        <p:spPr>
          <a:xfrm>
            <a:off x="9080500" y="3394770"/>
            <a:ext cx="2132203" cy="23875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1A1AA"/>
                </a:solidFill>
                <a:latin typeface="JetBrains Mono" pitchFamily="49" charset="0"/>
                <a:ea typeface="JetBrains Mono" pitchFamily="49" charset="-122"/>
                <a:cs typeface="JetBrains Mono" pitchFamily="49" charset="-120"/>
              </a:rPr>
              <a:t>20233350</a:t>
            </a:r>
            <a:endParaRPr lang="en-US" sz="1200" dirty="0"/>
          </a:p>
        </p:txBody>
      </p:sp>
      <p:sp>
        <p:nvSpPr>
          <p:cNvPr id="23" name="Text 21"/>
          <p:cNvSpPr/>
          <p:nvPr/>
        </p:nvSpPr>
        <p:spPr>
          <a:xfrm>
            <a:off x="9080500" y="3684327"/>
            <a:ext cx="2132203" cy="94985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4D4D8"/>
                </a:solidFill>
                <a:latin typeface="Inter" pitchFamily="34" charset="0"/>
                <a:ea typeface="Inter" pitchFamily="34" charset="-122"/>
                <a:cs typeface="Inter" pitchFamily="34" charset="-120"/>
              </a:rPr>
              <a:t>Website registration and dashboard pages, testing, photo collection, literature survey</a:t>
            </a:r>
            <a:endParaRPr lang="en-US" sz="1300" dirty="0"/>
          </a:p>
        </p:txBody>
      </p:sp>
      <p:sp>
        <p:nvSpPr>
          <p:cNvPr id="24" name="Text 22"/>
          <p:cNvSpPr/>
          <p:nvPr/>
        </p:nvSpPr>
        <p:spPr>
          <a:xfrm>
            <a:off x="812800" y="5814095"/>
            <a:ext cx="108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1A1AA"/>
                </a:solidFill>
                <a:latin typeface="JetBrains Mono" pitchFamily="49" charset="0"/>
                <a:ea typeface="JetBrains Mono" pitchFamily="49" charset="-122"/>
                <a:cs typeface="JetBrains Mono" pitchFamily="49" charset="-120"/>
              </a:rPr>
              <a:t>github.com/Tanish-237/quickpic</a:t>
            </a:r>
            <a:endParaRPr lang="en-US" sz="1300" dirty="0"/>
          </a:p>
        </p:txBody>
      </p:sp>
    </p:spTree>
  </p:cSld>
  <p:clrMapOvr>
    <a:masterClrMapping/>
  </p:clrMapOvr>
</p:sld>
</file>

<file path=ppt/theme/theme1.xml><?xml version="1.0" encoding="utf-8"?>
<a:theme xmlns:a="http://schemas.openxmlformats.org/drawingml/2006/main" name="QuickPic — Attendance from One Photo">
  <a:themeElements>
    <a:clrScheme name="QuickPic — Attendance from One Photo">
      <a:dk1>
        <a:srgbClr val="18181B"/>
      </a:dk1>
      <a:lt1>
        <a:srgbClr val="F7F6F3"/>
      </a:lt1>
      <a:dk2>
        <a:srgbClr val="505051"/>
      </a:dk2>
      <a:lt2>
        <a:srgbClr val="E1E0DD"/>
      </a:lt2>
      <a:accent1>
        <a:srgbClr val="15803D"/>
      </a:accent1>
      <a:accent2>
        <a:srgbClr val="4ADE80"/>
      </a:accent2>
      <a:accent3>
        <a:srgbClr val="14532D"/>
      </a:accent3>
      <a:accent4>
        <a:srgbClr val="B45309"/>
      </a:accent4>
      <a:accent5>
        <a:srgbClr val="FBBF24"/>
      </a:accent5>
      <a:accent6>
        <a:srgbClr val="5D5D66"/>
      </a:accent6>
      <a:hlink>
        <a:srgbClr val="0563C1"/>
      </a:hlink>
      <a:folHlink>
        <a:srgbClr val="954F72"/>
      </a:folHlink>
    </a:clrScheme>
    <a:fontScheme name="QuickPic — Attendance from One Photo">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QuickPic — Attendance from One Photo</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Inter
Copyright 2020 The Inter Project Authors (https://github.com/rsms/inter)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2026-10-27T18:18:17Z</dcterms:created>
  <dcterms:modified xsi:type="dcterms:W3CDTF">2026-10-27T18:18:17Z</dcterms:modified>
</cp:coreProperties>
</file>